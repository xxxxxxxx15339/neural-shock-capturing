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RefinedAppendix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RefinedAppendix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01.png"/><Relationship Id="rId22" Type="http://schemas.openxmlformats.org/officeDocument/2006/relationships/image" Target="../media/refined_002.png"/><Relationship Id="rId23" Type="http://schemas.openxmlformats.org/officeDocument/2006/relationships/image" Target="../media/refined_003.png"/><Relationship Id="rId24" Type="http://schemas.openxmlformats.org/officeDocument/2006/relationships/image" Target="../media/refined_00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05.png"/><Relationship Id="rId22" Type="http://schemas.openxmlformats.org/officeDocument/2006/relationships/image" Target="../media/refined_006.png"/><Relationship Id="rId23" Type="http://schemas.openxmlformats.org/officeDocument/2006/relationships/image" Target="../media/refined_007.png"/><Relationship Id="rId24" Type="http://schemas.openxmlformats.org/officeDocument/2006/relationships/image" Target="../media/refined_008.svg"/><Relationship Id="rId25" Type="http://schemas.openxmlformats.org/officeDocument/2006/relationships/image" Target="../media/refined_009.png"/><Relationship Id="rId26" Type="http://schemas.openxmlformats.org/officeDocument/2006/relationships/image" Target="../media/refined_01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11.png"/><Relationship Id="rId22" Type="http://schemas.openxmlformats.org/officeDocument/2006/relationships/image" Target="../media/refined_012.png"/><Relationship Id="rId23" Type="http://schemas.openxmlformats.org/officeDocument/2006/relationships/image" Target="../media/refined_013.svg"/><Relationship Id="rId24" Type="http://schemas.openxmlformats.org/officeDocument/2006/relationships/image" Target="../media/refined_014.png"/><Relationship Id="rId25" Type="http://schemas.openxmlformats.org/officeDocument/2006/relationships/image" Target="../media/refined_015.svg"/><Relationship Id="rId26" Type="http://schemas.openxmlformats.org/officeDocument/2006/relationships/image" Target="../media/refined_016.png"/><Relationship Id="rId27" Type="http://schemas.openxmlformats.org/officeDocument/2006/relationships/image" Target="../media/refined_017.svg"/><Relationship Id="rId28" Type="http://schemas.openxmlformats.org/officeDocument/2006/relationships/image" Target="../media/refined_018.png"/><Relationship Id="rId29" Type="http://schemas.openxmlformats.org/officeDocument/2006/relationships/image" Target="../media/refined_019.svg"/><Relationship Id="rId30" Type="http://schemas.openxmlformats.org/officeDocument/2006/relationships/image" Target="../media/refined_020.png"/><Relationship Id="rId31" Type="http://schemas.openxmlformats.org/officeDocument/2006/relationships/image" Target="../media/refined_021.svg"/><Relationship Id="rId32" Type="http://schemas.openxmlformats.org/officeDocument/2006/relationships/image" Target="../media/refined_022.png"/><Relationship Id="rId33" Type="http://schemas.openxmlformats.org/officeDocument/2006/relationships/image" Target="../media/refined_023.svg"/><Relationship Id="rId34" Type="http://schemas.openxmlformats.org/officeDocument/2006/relationships/image" Target="../media/refined_024.png"/><Relationship Id="rId35" Type="http://schemas.openxmlformats.org/officeDocument/2006/relationships/image" Target="../media/refined_025.svg"/><Relationship Id="rId36" Type="http://schemas.openxmlformats.org/officeDocument/2006/relationships/image" Target="../media/refined_026.png"/><Relationship Id="rId37" Type="http://schemas.openxmlformats.org/officeDocument/2006/relationships/image" Target="../media/refined_02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28.png"/><Relationship Id="rId22" Type="http://schemas.openxmlformats.org/officeDocument/2006/relationships/image" Target="../media/refined_029.png"/><Relationship Id="rId23" Type="http://schemas.openxmlformats.org/officeDocument/2006/relationships/image" Target="../media/refined_030.svg"/><Relationship Id="rId24" Type="http://schemas.openxmlformats.org/officeDocument/2006/relationships/image" Target="../media/refined_031.png"/><Relationship Id="rId25" Type="http://schemas.openxmlformats.org/officeDocument/2006/relationships/image" Target="../media/refined_032.svg"/><Relationship Id="rId26" Type="http://schemas.openxmlformats.org/officeDocument/2006/relationships/image" Target="../media/refined_033.png"/><Relationship Id="rId27" Type="http://schemas.openxmlformats.org/officeDocument/2006/relationships/image" Target="../media/refined_034.svg"/><Relationship Id="rId28" Type="http://schemas.openxmlformats.org/officeDocument/2006/relationships/image" Target="../media/refined_035.png"/><Relationship Id="rId29" Type="http://schemas.openxmlformats.org/officeDocument/2006/relationships/image" Target="../media/refined_036.svg"/><Relationship Id="rId30" Type="http://schemas.openxmlformats.org/officeDocument/2006/relationships/image" Target="../media/refined_037.png"/><Relationship Id="rId31" Type="http://schemas.openxmlformats.org/officeDocument/2006/relationships/image" Target="../media/refined_038.svg"/><Relationship Id="rId32" Type="http://schemas.openxmlformats.org/officeDocument/2006/relationships/image" Target="../media/refined_039.png"/><Relationship Id="rId33" Type="http://schemas.openxmlformats.org/officeDocument/2006/relationships/image" Target="../media/refined_040.svg"/><Relationship Id="rId34" Type="http://schemas.openxmlformats.org/officeDocument/2006/relationships/image" Target="../media/refined_041.png"/><Relationship Id="rId35" Type="http://schemas.openxmlformats.org/officeDocument/2006/relationships/image" Target="../media/refined_042.svg"/><Relationship Id="rId36" Type="http://schemas.openxmlformats.org/officeDocument/2006/relationships/image" Target="../media/refined_043.png"/><Relationship Id="rId37" Type="http://schemas.openxmlformats.org/officeDocument/2006/relationships/image" Target="../media/refined_044.svg"/><Relationship Id="rId38" Type="http://schemas.openxmlformats.org/officeDocument/2006/relationships/image" Target="../media/refined_045.png"/><Relationship Id="rId39" Type="http://schemas.openxmlformats.org/officeDocument/2006/relationships/image" Target="../media/refined_046.svg"/><Relationship Id="rId40" Type="http://schemas.openxmlformats.org/officeDocument/2006/relationships/image" Target="../media/refined_047.png"/><Relationship Id="rId41" Type="http://schemas.openxmlformats.org/officeDocument/2006/relationships/image" Target="../media/refined_048.svg"/><Relationship Id="rId42" Type="http://schemas.openxmlformats.org/officeDocument/2006/relationships/image" Target="../media/refined_049.png"/><Relationship Id="rId43" Type="http://schemas.openxmlformats.org/officeDocument/2006/relationships/image" Target="../media/refined_050.svg"/><Relationship Id="rId44" Type="http://schemas.openxmlformats.org/officeDocument/2006/relationships/image" Target="../media/refined_051.png"/><Relationship Id="rId45" Type="http://schemas.openxmlformats.org/officeDocument/2006/relationships/image" Target="../media/refined_052.svg"/><Relationship Id="rId46" Type="http://schemas.openxmlformats.org/officeDocument/2006/relationships/image" Target="../media/refined_053.png"/><Relationship Id="rId47" Type="http://schemas.openxmlformats.org/officeDocument/2006/relationships/image" Target="../media/refined_054.svg"/><Relationship Id="rId48" Type="http://schemas.openxmlformats.org/officeDocument/2006/relationships/image" Target="../media/refined_055.png"/><Relationship Id="rId49" Type="http://schemas.openxmlformats.org/officeDocument/2006/relationships/image" Target="../media/refined_056.svg"/><Relationship Id="rId50" Type="http://schemas.openxmlformats.org/officeDocument/2006/relationships/image" Target="../media/refined_057.png"/><Relationship Id="rId51" Type="http://schemas.openxmlformats.org/officeDocument/2006/relationships/image" Target="../media/refined_05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59.png"/><Relationship Id="rId22" Type="http://schemas.openxmlformats.org/officeDocument/2006/relationships/image" Target="../media/refined_060.png"/><Relationship Id="rId23" Type="http://schemas.openxmlformats.org/officeDocument/2006/relationships/image" Target="../media/refined_061.svg"/><Relationship Id="rId24" Type="http://schemas.openxmlformats.org/officeDocument/2006/relationships/image" Target="../media/refined_062.png"/><Relationship Id="rId25" Type="http://schemas.openxmlformats.org/officeDocument/2006/relationships/image" Target="../media/refined_063.svg"/><Relationship Id="rId26" Type="http://schemas.openxmlformats.org/officeDocument/2006/relationships/image" Target="../media/refined_064.png"/><Relationship Id="rId27" Type="http://schemas.openxmlformats.org/officeDocument/2006/relationships/image" Target="../media/refined_065.svg"/><Relationship Id="rId28" Type="http://schemas.openxmlformats.org/officeDocument/2006/relationships/image" Target="../media/refined_066.png"/><Relationship Id="rId29" Type="http://schemas.openxmlformats.org/officeDocument/2006/relationships/image" Target="../media/refined_06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68.png"/><Relationship Id="rId22" Type="http://schemas.openxmlformats.org/officeDocument/2006/relationships/image" Target="../media/refined_069.png"/><Relationship Id="rId23" Type="http://schemas.openxmlformats.org/officeDocument/2006/relationships/image" Target="../media/refined_070.svg"/><Relationship Id="rId24" Type="http://schemas.openxmlformats.org/officeDocument/2006/relationships/image" Target="../media/refined_071.png"/><Relationship Id="rId25" Type="http://schemas.openxmlformats.org/officeDocument/2006/relationships/image" Target="../media/refined_072.svg"/><Relationship Id="rId26" Type="http://schemas.openxmlformats.org/officeDocument/2006/relationships/image" Target="../media/refined_073.png"/><Relationship Id="rId27" Type="http://schemas.openxmlformats.org/officeDocument/2006/relationships/image" Target="../media/refined_074.svg"/><Relationship Id="rId28" Type="http://schemas.openxmlformats.org/officeDocument/2006/relationships/image" Target="../media/refined_075.png"/><Relationship Id="rId29" Type="http://schemas.openxmlformats.org/officeDocument/2006/relationships/image" Target="../media/refined_076.svg"/><Relationship Id="rId30" Type="http://schemas.openxmlformats.org/officeDocument/2006/relationships/image" Target="../media/refined_077.png"/><Relationship Id="rId31" Type="http://schemas.openxmlformats.org/officeDocument/2006/relationships/image" Target="../media/refined_07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79.png"/><Relationship Id="rId22" Type="http://schemas.openxmlformats.org/officeDocument/2006/relationships/image" Target="../media/refined_080.png"/><Relationship Id="rId23" Type="http://schemas.openxmlformats.org/officeDocument/2006/relationships/image" Target="../media/refined_081.svg"/><Relationship Id="rId24" Type="http://schemas.openxmlformats.org/officeDocument/2006/relationships/image" Target="../media/refined_082.png"/><Relationship Id="rId25" Type="http://schemas.openxmlformats.org/officeDocument/2006/relationships/image" Target="../media/refined_083.png"/><Relationship Id="rId26" Type="http://schemas.openxmlformats.org/officeDocument/2006/relationships/image" Target="../media/refined_08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85.png"/><Relationship Id="rId22" Type="http://schemas.openxmlformats.org/officeDocument/2006/relationships/image" Target="../media/refined_086.png"/><Relationship Id="rId23" Type="http://schemas.openxmlformats.org/officeDocument/2006/relationships/image" Target="../media/refined_087.png"/><Relationship Id="rId24" Type="http://schemas.openxmlformats.org/officeDocument/2006/relationships/image" Target="../media/refined_088.png"/><Relationship Id="rId25" Type="http://schemas.openxmlformats.org/officeDocument/2006/relationships/image" Target="../media/refined_08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90.png"/><Relationship Id="rId22" Type="http://schemas.openxmlformats.org/officeDocument/2006/relationships/image" Target="../media/refined_091.png"/><Relationship Id="rId23" Type="http://schemas.openxmlformats.org/officeDocument/2006/relationships/image" Target="../media/refined_09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9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94.png"/><Relationship Id="rId22" Type="http://schemas.openxmlformats.org/officeDocument/2006/relationships/image" Target="../media/refined_095.png"/><Relationship Id="rId23" Type="http://schemas.openxmlformats.org/officeDocument/2006/relationships/image" Target="../media/refined_096.svg"/><Relationship Id="rId24" Type="http://schemas.openxmlformats.org/officeDocument/2006/relationships/image" Target="../media/refined_097.png"/><Relationship Id="rId25" Type="http://schemas.openxmlformats.org/officeDocument/2006/relationships/image" Target="../media/refined_098.svg"/><Relationship Id="rId26" Type="http://schemas.openxmlformats.org/officeDocument/2006/relationships/image" Target="../media/refined_099.png"/><Relationship Id="rId27" Type="http://schemas.openxmlformats.org/officeDocument/2006/relationships/image" Target="../media/refined_100.svg"/><Relationship Id="rId28" Type="http://schemas.openxmlformats.org/officeDocument/2006/relationships/image" Target="../media/refined_101.png"/><Relationship Id="rId29" Type="http://schemas.openxmlformats.org/officeDocument/2006/relationships/image" Target="../media/refined_102.svg"/><Relationship Id="rId30" Type="http://schemas.openxmlformats.org/officeDocument/2006/relationships/image" Target="../media/refined_103.png"/><Relationship Id="rId31" Type="http://schemas.openxmlformats.org/officeDocument/2006/relationships/image" Target="../media/refined_10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05.png"/><Relationship Id="rId22" Type="http://schemas.openxmlformats.org/officeDocument/2006/relationships/image" Target="../media/refined_106.png"/><Relationship Id="rId23" Type="http://schemas.openxmlformats.org/officeDocument/2006/relationships/image" Target="../media/refined_107.svg"/><Relationship Id="rId24" Type="http://schemas.openxmlformats.org/officeDocument/2006/relationships/image" Target="../media/refined_108.png"/><Relationship Id="rId25" Type="http://schemas.openxmlformats.org/officeDocument/2006/relationships/image" Target="../media/refined_109.svg"/><Relationship Id="rId26" Type="http://schemas.openxmlformats.org/officeDocument/2006/relationships/image" Target="../media/refined_110.png"/><Relationship Id="rId27" Type="http://schemas.openxmlformats.org/officeDocument/2006/relationships/image" Target="../media/refined_11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12.png"/><Relationship Id="rId22" Type="http://schemas.openxmlformats.org/officeDocument/2006/relationships/image" Target="../media/refined_113.png"/><Relationship Id="rId23" Type="http://schemas.openxmlformats.org/officeDocument/2006/relationships/image" Target="../media/refined_114.svg"/><Relationship Id="rId24" Type="http://schemas.openxmlformats.org/officeDocument/2006/relationships/image" Target="../media/refined_115.png"/><Relationship Id="rId25" Type="http://schemas.openxmlformats.org/officeDocument/2006/relationships/image" Target="../media/refined_116.svg"/><Relationship Id="rId26" Type="http://schemas.openxmlformats.org/officeDocument/2006/relationships/image" Target="../media/refined_117.png"/><Relationship Id="rId27" Type="http://schemas.openxmlformats.org/officeDocument/2006/relationships/image" Target="../media/refined_118.svg"/><Relationship Id="rId28" Type="http://schemas.openxmlformats.org/officeDocument/2006/relationships/image" Target="../media/refined_119.png"/><Relationship Id="rId29" Type="http://schemas.openxmlformats.org/officeDocument/2006/relationships/image" Target="../media/refined_120.svg"/><Relationship Id="rId30" Type="http://schemas.openxmlformats.org/officeDocument/2006/relationships/image" Target="../media/refined_121.png"/><Relationship Id="rId31" Type="http://schemas.openxmlformats.org/officeDocument/2006/relationships/image" Target="../media/refined_122.svg"/><Relationship Id="rId32" Type="http://schemas.openxmlformats.org/officeDocument/2006/relationships/image" Target="../media/refined_123.png"/><Relationship Id="rId33" Type="http://schemas.openxmlformats.org/officeDocument/2006/relationships/image" Target="../media/refined_124.svg"/><Relationship Id="rId34" Type="http://schemas.openxmlformats.org/officeDocument/2006/relationships/image" Target="../media/refined_125.png"/><Relationship Id="rId35" Type="http://schemas.openxmlformats.org/officeDocument/2006/relationships/image" Target="../media/refined_126.svg"/></Relationships>
</file>

<file path=ppt/slides/slide1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pic>
        <ns0:nvPicPr>
          <ns0:cNvPr id="2" name="UM6P College of Computing logo 2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94360" y="438912"/>
            <ns0:ext cx="2534003" cy="52120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3" name="Panel 3"/>
          <ns0:cNvSpPr/>
          <ns0:nvPr/>
        </ns0:nvSpPr>
        <ns0:spPr>
          <ns0:xfrm xmlns:ns0="http://schemas.openxmlformats.org/drawingml/2006/main">
            <ns0:off x="7754112" y="0"/>
            <ns0:ext cx="4437888" cy="685800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172D4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4" name="Text 4"/>
          <ns0:cNvSpPr/>
          <ns0:nvPr/>
        </ns0:nvSpPr>
        <ns0:spPr>
          <ns0:xfrm xmlns:ns0="http://schemas.openxmlformats.org/drawingml/2006/main">
            <ns0:off x="594360" y="1600200"/>
            <ns0:ext cx="6766560" cy="19659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36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Machine Learning for</ns0:t>
            </ns0:r>
            <ns0:endParaRPr lang="en-US" sz="3600"/>
          </ns0:p>
          <ns0:p xmlns:ns0="http://schemas.openxmlformats.org/drawingml/2006/main">
            <ns0:pPr algn="l" marL="0" marR="0" indent="0">
              <ns0:lnSpc>
                <ns0:spcPct val="10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36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Shock-Capturing</ns0:t>
            </ns0:r>
            <ns0:endParaRPr lang="en-US" sz="3600"/>
          </ns0:p>
          <ns0:p xmlns:ns0="http://schemas.openxmlformats.org/drawingml/2006/main">
            <ns0:pPr algn="l" marL="0" marR="0" indent="0">
              <ns0:lnSpc>
                <ns0:spcPct val="10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36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Numerical Schemes</ns0:t>
            </ns0:r>
            <ns0:endParaRPr lang="en-US" sz="3600"/>
          </ns0:p>
        </ns0:txBody>
      </ns0:sp>
      <ns0:sp>
        <ns0:nvSpPr>
          <ns0:cNvPr id="5" name="Text 5"/>
          <ns0:cNvSpPr/>
          <ns0:nvPr/>
        </ns0:nvSpPr>
        <ns0:spPr>
          <ns0:xfrm xmlns:ns0="http://schemas.openxmlformats.org/drawingml/2006/main">
            <ns0:off x="621792" y="3749040"/>
            <ns0:ext cx="6492240" cy="7589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Learning reconstruction decisions for</ns0:t>
            </ns0:r>
            <ns0:endParaRPr lang="en-US" sz="2000"/>
          </ns0:p>
          <ns0:p xmlns:ns0="http://schemas.openxmlformats.org/drawingml/2006/main">
            <ns0:pPr algn="l" marL="0" marR="0" indent="0">
              <ns0:lnSpc>
                <ns0:spcPct val="11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1D hyperbolic conservation laws</ns0:t>
            </ns0:r>
            <ns0:endParaRPr lang="en-US" sz="2000"/>
          </ns0:p>
        </ns0:txBody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621792" y="4754880"/>
            <ns0:ext cx="6446520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WENO-NN   /   NN-TENO5   /   DIFFERENTIABLE CFD</ns0:t>
            </ns0:r>
            <ns0:endParaRPr lang="en-US" sz="1200"/>
          </ns0:p>
        </ns0:txBody>
      </ns0:sp>
      <ns0:sp>
        <ns0:nvSpPr>
          <ns0:cNvPr id="7" name="Panel 7"/>
          <ns0:cNvSpPr/>
          <ns0:nvPr/>
        </ns0:nvSpPr>
        <ns0:spPr>
          <ns0:xfrm xmlns:ns0="http://schemas.openxmlformats.org/drawingml/2006/main">
            <ns0:off x="621792" y="5349240"/>
            <ns0:ext cx="6355080" cy="15545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8" name="Text 8"/>
          <ns0:cNvSpPr/>
          <ns0:nvPr/>
        </ns0:nvSpPr>
        <ns0:spPr>
          <ns0:xfrm xmlns:ns0="http://schemas.openxmlformats.org/drawingml/2006/main">
            <ns0:off x="621792" y="5568696"/>
            <ns0:ext cx="640080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Yasser Baouzil</ns0:t>
            </ns0:r>
            <ns0:endParaRPr lang="en-US" sz="2200"/>
          </ns0:p>
        </ns0:txBody>
      </ns0:sp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621792" y="5961888"/>
            <ns0:ext cx="640080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Supervisor: Radouan Boukharfane</ns0:t>
            </ns0:r>
            <ns0:endParaRPr lang="en-US" sz="1600"/>
          </ns0:p>
        </ns0:txBody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621792" y="6400800"/>
            <ns0:ext cx="6400800" cy="2103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UM6P  ·  College of Computing</ns0:t>
            </ns0:r>
            <ns0:endParaRPr lang="en-US" sz="1100"/>
          </ns0:p>
        </ns0:txBody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8101584" y="566928"/>
            <ns0:ext cx="368503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8E5EF"/>
                </ns0:solidFill>
                <ns0:latin typeface="Calibri"/>
                <ns0:ea typeface="Calibri"/>
                <ns0:cs typeface="Calibri"/>
              </ns0:rPr>
              <ns0:t>PHYSICS × NUMERICS × LEARNING</ns0:t>
            </ns0:r>
            <ns0:endParaRPr lang="en-US" sz="1050"/>
          </ns0:p>
        </ns0:txBody>
      </ns0:sp>
      <ns0:pic>
        <ns0:nvPicPr>
          <ns0:cNvPr id="12" name="Original schlieren photograph of shock waves 12" descr="Original schlieren photograph of shock waves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101584" y="1282379"/>
            <ns0:ext cx="3712464" cy="277533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8119872" y="4334256"/>
            <ns0:ext cx="3630168" cy="7589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FFFFFF"/>
                </ns0:solidFill>
                <ns0:latin typeface="Calibri"/>
                <ns0:ea typeface="Calibri"/>
                <ns0:cs typeface="Calibri"/>
              </ns0:rPr>
              <ns0:t>Capturing sharp fronts</ns0:t>
            </ns0:r>
            <ns0:endParaRPr lang="en-US" sz="220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FFFFFF"/>
                </ns0:solidFill>
                <ns0:latin typeface="Calibri"/>
                <ns0:ea typeface="Calibri"/>
                <ns0:cs typeface="Calibri"/>
              </ns0:rPr>
              <ns0:t>without spurious oscillations</ns0:t>
            </ns0:r>
            <ns0:endParaRPr lang="en-US" sz="2200"/>
          </ns0:p>
        </ns0:txBody>
      </ns0:sp>
      <ns0:pic>
        <ns0:nvPicPr>
          <ns0:cNvPr id="14" name="Equation: \frac{\partial u}{\partial t}+\frac{\partial f(u)}{\partial x}=0 14" descr="Equation: \frac{\partial u}{\partial t}+\frac{\partial f(u)}{\partial x}=0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3">
            <ns0:extLst>
              <ns0:ext uri="{96DAC541-7B7A-43D3-8B79-37D633B846F1}">
                <ns0:svgBlip xmlns:ns0="http://schemas.microsoft.com/office/drawing/2016/SVG/main" ns3:embed="rId24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119872" y="5436021"/>
            <ns0:ext cx="1833191" cy="548814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</ns0:spTree>
  </ns0:cSld>
  <ns0:clrMapOvr>
    <ns0:masterClrMapping xmlns:ns0="http://schemas.openxmlformats.org/drawingml/2006/main"/>
  </ns0:clrMapOvr>
</ns0:sld>
</file>

<file path=ppt/slides/slide2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MOTIVATION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Shock capturing balances accuracy and stability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02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9" name="Original shock-wave photograph 9" descr="Original shock-wave photograph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64197" y="1536192"/>
            <ns0:ext cx="5455287" cy="4078224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576072" y="5641848"/>
            <ns0:ext cx="5458968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Schlieren imaging reveals abrupt changes in compressible flow.</ns0:t>
            </ns0:r>
            <ns0:endParaRPr lang="en-US" sz="1200"/>
          </ns0:p>
        </ns0:txBody>
      </ns0:sp>
      <ns0:sp>
        <ns0:nvSpPr>
          <ns0:cNvPr id="11" name="Panel 11"/>
          <ns0:cNvSpPr/>
          <ns0:nvPr/>
        </ns0:nvSpPr>
        <ns0:spPr>
          <ns0:xfrm xmlns:ns0="http://schemas.openxmlformats.org/drawingml/2006/main">
            <ns0:off x="6355080" y="1554480"/>
            <ns0:ext cx="5276088" cy="210312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6601968" y="1755648"/>
            <ns0:ext cx="4791456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The governing conservation law</ns0:t>
            </ns0:r>
            <ns0:endParaRPr lang="en-US" sz="2000"/>
          </ns0:p>
        </ns0:txBody>
      </ns0:sp>
      <ns0:pic>
        <ns0:nvPicPr>
          <ns0:cNvPr id="13" name="Equation: \partial_t u+\partial_x f(u)=0 13" descr="Equation: \partial_t u+\partial_x f(u)=0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3">
            <ns0:extLst>
              <ns0:ext uri="{96DAC541-7B7A-43D3-8B79-37D633B846F1}">
                <ns0:svgBlip xmlns:ns0="http://schemas.microsoft.com/office/drawing/2016/SVG/main" ns3:embed="rId24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601968" y="2315297"/>
            <ns0:ext cx="2698012" cy="407750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4" name="Equation: f(u)=a u\quad\mathrm{or}\quad f(u)=\frac{u^2}{2} 14" descr="Equation: f(u)=a u\quad\mathrm{or}\quad f(u)=\frac{u^2}{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5">
            <ns0:extLst>
              <ns0:ext uri="{96DAC541-7B7A-43D3-8B79-37D633B846F1}">
                <ns0:svgBlip xmlns:ns0="http://schemas.microsoft.com/office/drawing/2016/SVG/main" ns4:embed="rId26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601968" y="2927128"/>
            <ns0:ext cx="2708587" cy="42767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419088" y="3886200"/>
            <ns0:ext cx="512064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Smooth regions</ns0:t>
            </ns0:r>
            <ns0:endParaRPr lang="en-US" sz="180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6419088" y="4197096"/>
            <ns0:ext cx="5148072" cy="38404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Resolve the solution with high-order accuracy.</ns0:t>
            </ns0:r>
            <ns0:endParaRPr lang="en-US" sz="1600"/>
          </ns0:p>
        </ns0:txBody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6419088" y="4535424"/>
            <ns0:ext cx="512064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Discontinuities</ns0:t>
            </ns0:r>
            <ns0:endParaRPr lang="en-US" sz="18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419088" y="4846320"/>
            <ns0:ext cx="5148072" cy="38404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Suppress nonphysical oscillations near shocks.</ns0:t>
            </ns0:r>
            <ns0:endParaRPr lang="en-US" sz="16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6419088" y="5184648"/>
            <ns0:ext cx="512064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Euler flows</ns0:t>
            </ns0:r>
            <ns0:endParaRPr lang="en-US" sz="1800"/>
          </ns0:p>
        </ns0:txBody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419088" y="5495544"/>
            <ns0:ext cx="5148072" cy="38404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Maintain positive density and pressure.</ns0:t>
            </ns0:r>
            <ns0:endParaRPr lang="en-US" sz="1600"/>
          </ns0:p>
        </ns0:txBody>
      </ns0:sp>
      <ns0:sp>
        <ns0:nvSpPr>
          <ns0:cNvPr id="21" name="Panel 21"/>
          <ns0:cNvSpPr/>
          <ns0:nvPr/>
        </ns0:nvSpPr>
        <ns0:spPr>
          <ns0:xfrm xmlns:ns0="http://schemas.openxmlformats.org/drawingml/2006/main">
            <ns0:off x="548640" y="5925312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157F8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704088" y="5916168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The learned component must work within the structure of a conservative numerical solver.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3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NUMERICAL BACKBONE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Local interface fluxes drive a conservative solver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03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536192"/>
            <ns0:ext cx="5541264" cy="195681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795528" y="1737360"/>
            <ns0:ext cx="5029200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01  Finite-volume discretization</ns0:t>
            </ns0:r>
            <ns0:endParaRPr lang="en-US" sz="1900"/>
          </ns0:p>
        </ns0:txBody>
      </ns0:sp>
      <ns0:pic>
        <ns0:nvPicPr>
          <ns0:cNvPr id="11" name="Equation: \bar u_i(t)=\frac{1}{\Delta x}\int_{I_i}u(x,t)\,dx 11" descr="Equation: \bar u_i(t)=\frac{1}{\Delta x}\int_{I_i}u(x,t)\,dx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95528" y="2158464"/>
            <ns0:ext cx="2268473" cy="47452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2" name="Equation: L_i(u)=-\frac{\hat f_{i+1/2}-\hat f_{i-1/2}}{\Delta x} 12" descr="Equation: L_i(u)=-\frac{\hat f_{i+1/2}-\hat f_{i-1/2}}{\Delta x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95528" y="2725944"/>
            <ns0:ext cx="2706654" cy="647161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3" name="Panel 13"/>
          <ns0:cNvSpPr/>
          <ns0:nvPr/>
        </ns0:nvSpPr>
        <ns0:spPr>
          <ns0:xfrm xmlns:ns0="http://schemas.openxmlformats.org/drawingml/2006/main">
            <ns0:off x="548640" y="3675888"/>
            <ns0:ext cx="5541264" cy="193852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795528" y="3858768"/>
            <ns0:ext cx="5010912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02  Lax–Friedrichs interface flux</ns0:t>
            </ns0:r>
            <ns0:endParaRPr lang="en-US" sz="1900"/>
          </ns0:p>
        </ns0:txBody>
      </ns0:sp>
      <ns0:pic>
        <ns0:nvPicPr>
          <ns0:cNvPr id="15" name="Equation: f^{\pm}(u)=\frac{1}{2}\left[f(u)\pm\alpha u\right] 15" descr="Equation: f^{\pm}(u)=\frac{1}{2}\left[f(u)\pm\alpha u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95528" y="4352836"/>
            <ns0:ext cx="2736172" cy="47490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6" name="Equation: \hat f_{i+1/2}=\hat f^{+}_{i+1/2}+\hat f^{-}_{i+1/2} 16" descr="Equation: \hat f_{i+1/2}=\hat f^{+}_{i+1/2}+\hat f^{-}_{i+1/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95528" y="4947398"/>
            <ns0:ext cx="3013057" cy="51107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7" name="Panel 17"/>
          <ns0:cNvSpPr/>
          <ns0:nvPr/>
        </ns0:nvSpPr>
        <ns0:spPr>
          <ns0:xfrm xmlns:ns0="http://schemas.openxmlformats.org/drawingml/2006/main">
            <ns0:off x="6291072" y="1536192"/>
            <ns0:ext cx="5349240" cy="407822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537960" y="1737360"/>
            <ns0:ext cx="485546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03  SSPRK3 time integration</ns0:t>
            </ns0:r>
            <ns0:endParaRPr lang="en-US" sz="1900"/>
          </ns0:p>
        </ns0:txBody>
      </ns0:sp>
      <ns0:pic>
        <ns0:nvPicPr>
          <ns0:cNvPr id="19" name="Equation: u^{(1)}=u^n+\Delta t\,L(u^n) 19" descr="Equation: u^{(1)}=u^n+\Delta t\,L(u^n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6="http://schemas.openxmlformats.org/officeDocument/2006/relationships" ns6:embed="rId30">
            <ns0:extLst>
              <ns0:ext uri="{96DAC541-7B7A-43D3-8B79-37D633B846F1}">
                <ns0:svgBlip xmlns:ns0="http://schemas.microsoft.com/office/drawing/2016/SVG/main" ns6:embed="rId3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537960" y="2486786"/>
            <ns0:ext cx="2766078" cy="38481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0" name="Equation: u^{(2)}=\frac{3}{4}u^n+\frac{1}{4}\left[u^{(1)}+\Delta t L(u^{(1)})\right] 20" descr="Equation: u^{(2)}=\frac{3}{4}u^n+\frac{1}{4}\left[u^{(1)}+\Delta t L(u^{(1)})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7="http://schemas.openxmlformats.org/officeDocument/2006/relationships" ns7:embed="rId32">
            <ns0:extLst>
              <ns0:ext uri="{96DAC541-7B7A-43D3-8B79-37D633B846F1}">
                <ns0:svgBlip xmlns:ns0="http://schemas.microsoft.com/office/drawing/2016/SVG/main" ns7:embed="rId3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537960" y="3308086"/>
            <ns0:ext cx="3960935" cy="46128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1" name="Equation: u^{n+1}=\frac{1}{3}u^n+\frac{2}{3}\left[u^{(2)}+\Delta t L(u^{(2)})\right] 21" descr="Equation: u^{n+1}=\frac{1}{3}u^n+\frac{2}{3}\left[u^{(2)}+\Delta t L(u^{(2)})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8="http://schemas.openxmlformats.org/officeDocument/2006/relationships" ns8:embed="rId34">
            <ns0:extLst>
              <ns0:ext uri="{96DAC541-7B7A-43D3-8B79-37D633B846F1}">
                <ns0:svgBlip xmlns:ns0="http://schemas.microsoft.com/office/drawing/2016/SVG/main" ns8:embed="rId3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537960" y="4233503"/>
            <ns0:ext cx="4175027" cy="45753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6537960" y="5120640"/>
            <ns0:ext cx="475488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The reconstruction is evaluated at every stage.</ns0:t>
            </ns0:r>
            <ns0:endParaRPr lang="en-US" sz="1500"/>
          </ns0:p>
        </ns0:txBody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640080" y="5897880"/>
            <ns0:ext cx="2916936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CFL time-step restriction</ns0:t>
            </ns0:r>
            <ns0:endParaRPr lang="en-US" sz="1600"/>
          </ns0:p>
        </ns0:txBody>
      </ns0:sp>
      <ns0:pic>
        <ns0:nvPicPr>
          <ns0:cNvPr id="24" name="Equation: \Delta t\leq\mathrm{CFL}\,\frac{\Delta x}{a_{\max}}\,,\qquad a_{\max}=\max_i(|v_i|+c_i)\ \mathrm{for\ Euler} 24" descr="Equation: \Delta t\leq\mathrm{CFL}\,\frac{\Delta x}{a_{\max}}\,,\qquad a_{\max}=\max_i(|v_i|+c_i)\ \mathrm{for\ Euler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9="http://schemas.openxmlformats.org/officeDocument/2006/relationships" ns9:embed="rId36">
            <ns0:extLst>
              <ns0:ext uri="{96DAC541-7B7A-43D3-8B79-37D633B846F1}">
                <ns0:svgBlip xmlns:ns0="http://schemas.microsoft.com/office/drawing/2016/SVG/main" ns9:embed="rId3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474720" y="5834543"/>
            <ns0:ext cx="5415129" cy="46500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</ns0:spTree>
  </ns0:cSld>
  <ns0:clrMapOvr>
    <ns0:masterClrMapping xmlns:ns0="http://schemas.openxmlformats.org/drawingml/2006/main"/>
  </ns0:clrMapOvr>
</ns0:sld>
</file>

<file path=ppt/slides/slide4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CLASSICAL RECONSTRUCTION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WENO and TENO combine three local reconstructions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04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66928" y="1481328"/>
            <ns0:ext cx="10972800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Five stencil values → three third-order candidates → one interface flux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2340864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1" name="Equation: f_{i-2} 11" descr="Equation: f_{i-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595121" y="2062580"/>
            <ns0:ext cx="533902" cy="32796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2" name="Panel 12"/>
          <ns0:cNvSpPr/>
          <ns0:nvPr/>
        </ns0:nvSpPr>
        <ns0:spPr>
          <ns0:xfrm xmlns:ns0="http://schemas.openxmlformats.org/drawingml/2006/main">
            <ns0:off x="3831336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3" name="Equation: f_{i-1} 13" descr="Equation: f_{i-1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084870" y="2062136"/>
            <ns0:ext cx="535348" cy="32885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4" name="Panel 14"/>
          <ns0:cNvSpPr/>
          <ns0:nvPr/>
        </ns0:nvSpPr>
        <ns0:spPr>
          <ns0:xfrm xmlns:ns0="http://schemas.openxmlformats.org/drawingml/2006/main">
            <ns0:off x="5321808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5" name="Equation: f_i 15" descr="Equation: f_i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758929" y="2062213"/>
            <ns0:ext cx="168173" cy="32870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6812280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7" name="Equation: f_{i+1} 17" descr="Equation: f_{i+1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065814" y="2062136"/>
            <ns0:ext cx="535348" cy="32885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8" name="Panel 18"/>
          <ns0:cNvSpPr/>
          <ns0:nvPr/>
        </ns0:nvSpPr>
        <ns0:spPr>
          <ns0:xfrm xmlns:ns0="http://schemas.openxmlformats.org/drawingml/2006/main">
            <ns0:off x="8302752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9" name="Equation: f_{i+2} 19" descr="Equation: f_{i+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6="http://schemas.openxmlformats.org/officeDocument/2006/relationships" ns6:embed="rId30">
            <ns0:extLst>
              <ns0:ext uri="{96DAC541-7B7A-43D3-8B79-37D633B846F1}">
                <ns0:svgBlip xmlns:ns0="http://schemas.microsoft.com/office/drawing/2016/SVG/main" ns6:embed="rId3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557009" y="2062580"/>
            <ns0:ext cx="533902" cy="32796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0" name="Panel 20"/>
          <ns0:cNvSpPr/>
          <ns0:nvPr/>
        </ns0:nvSpPr>
        <ns0:spPr>
          <ns0:xfrm xmlns:ns0="http://schemas.openxmlformats.org/drawingml/2006/main">
            <ns0:off x="6588252" y="1874520"/>
            <ns0:ext cx="13716" cy="877824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9582B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1" name="Equation: i+\frac{1}{2} 21" descr="Equation: i+\frac{1}{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7="http://schemas.openxmlformats.org/officeDocument/2006/relationships" ns7:embed="rId32">
            <ns0:extLst>
              <ns0:ext uri="{96DAC541-7B7A-43D3-8B79-37D633B846F1}">
                <ns0:svgBlip xmlns:ns0="http://schemas.microsoft.com/office/drawing/2016/SVG/main" ns7:embed="rId3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03182" y="1664208"/>
            <ns0:ext cx="369803" cy="31089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2" name="Panel 22"/>
          <ns0:cNvSpPr/>
          <ns0:nvPr/>
        </ns0:nvSpPr>
        <ns0:spPr>
          <ns0:xfrm xmlns:ns0="http://schemas.openxmlformats.org/drawingml/2006/main">
            <ns0:off x="2542032" y="2724912"/>
            <ns0:ext cx="3621024" cy="2286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157F8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3" name="Equation: S_0 23" descr="Equation: S_0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8="http://schemas.openxmlformats.org/officeDocument/2006/relationships" ns8:embed="rId34">
            <ns0:extLst>
              <ns0:ext uri="{96DAC541-7B7A-43D3-8B79-37D633B846F1}">
                <ns0:svgBlip xmlns:ns0="http://schemas.microsoft.com/office/drawing/2016/SVG/main" ns8:embed="rId3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975104" y="2632847"/>
            <ns0:ext cx="190960" cy="20241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4" name="Panel 24"/>
          <ns0:cNvSpPr/>
          <ns0:nvPr/>
        </ns0:nvSpPr>
        <ns0:spPr>
          <ns0:xfrm xmlns:ns0="http://schemas.openxmlformats.org/drawingml/2006/main">
            <ns0:off x="4032504" y="2880360"/>
            <ns0:ext cx="3621024" cy="2286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638E5B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5" name="Equation: S_1 25" descr="Equation: S_1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9="http://schemas.openxmlformats.org/officeDocument/2006/relationships" ns9:embed="rId36">
            <ns0:extLst>
              <ns0:ext uri="{96DAC541-7B7A-43D3-8B79-37D633B846F1}">
                <ns0:svgBlip xmlns:ns0="http://schemas.microsoft.com/office/drawing/2016/SVG/main" ns9:embed="rId3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465576" y="2786748"/>
            <ns0:ext cx="190001" cy="205511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6" name="Panel 26"/>
          <ns0:cNvSpPr/>
          <ns0:nvPr/>
        </ns0:nvSpPr>
        <ns0:spPr>
          <ns0:xfrm xmlns:ns0="http://schemas.openxmlformats.org/drawingml/2006/main">
            <ns0:off x="5522976" y="3035808"/>
            <ns0:ext cx="3621024" cy="2286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9582B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7" name="Equation: S_2 27" descr="Equation: S_2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0="http://schemas.openxmlformats.org/officeDocument/2006/relationships" ns10:embed="rId38">
            <ns0:extLst>
              <ns0:ext uri="{96DAC541-7B7A-43D3-8B79-37D633B846F1}">
                <ns0:svgBlip xmlns:ns0="http://schemas.microsoft.com/office/drawing/2016/SVG/main" ns10:embed="rId3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956048" y="2942575"/>
            <ns0:ext cx="189300" cy="20475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8" name="Panel 28"/>
          <ns0:cNvSpPr/>
          <ns0:nvPr/>
        </ns0:nvSpPr>
        <ns0:spPr>
          <ns0:xfrm xmlns:ns0="http://schemas.openxmlformats.org/drawingml/2006/main">
            <ns0:off x="548640" y="3282696"/>
            <ns0:ext cx="3557016" cy="2404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9" name="Text 29"/>
          <ns0:cNvSpPr/>
          <ns0:nvPr/>
        </ns0:nvSpPr>
        <ns0:spPr>
          <ns0:xfrm xmlns:ns0="http://schemas.openxmlformats.org/drawingml/2006/main">
            <ns0:off x="758952" y="3483864"/>
            <ns0:ext cx="3136392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ENO selects</ns0:t>
            </ns0:r>
            <ns0:endParaRPr lang="en-US" sz="2100"/>
          </ns0:p>
        </ns0:txBody>
      </ns0:sp>
      <ns0:sp>
        <ns0:nvSpPr>
          <ns0:cNvPr id="30" name="Text 30"/>
          <ns0:cNvSpPr/>
          <ns0:nvPr/>
        </ns0:nvSpPr>
        <ns0:spPr>
          <ns0:xfrm xmlns:ns0="http://schemas.openxmlformats.org/drawingml/2006/main">
            <ns0:off x="758952" y="3931920"/>
            <ns0:ext cx="3136392" cy="5760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Choose the smoothest candidate.</ns0:t>
            </ns0:r>
            <ns0:endParaRPr lang="en-US" sz="1600"/>
          </ns0:p>
        </ns0:txBody>
      </ns0:sp>
      <ns0:sp>
        <ns0:nvSpPr>
          <ns0:cNvPr id="31" name="Panel 31"/>
          <ns0:cNvSpPr/>
          <ns0:nvPr/>
        </ns0:nvSpPr>
        <ns0:spPr>
          <ns0:xfrm xmlns:ns0="http://schemas.openxmlformats.org/drawingml/2006/main">
            <ns0:off x="4315968" y="3282696"/>
            <ns0:ext cx="3557016" cy="2404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2" name="Text 32"/>
          <ns0:cNvSpPr/>
          <ns0:nvPr/>
        </ns0:nvSpPr>
        <ns0:spPr>
          <ns0:xfrm xmlns:ns0="http://schemas.openxmlformats.org/drawingml/2006/main">
            <ns0:off x="4526280" y="3483864"/>
            <ns0:ext cx="3136392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WENO weights</ns0:t>
            </ns0:r>
            <ns0:endParaRPr lang="en-US" sz="2100"/>
          </ns0:p>
        </ns0:txBody>
      </ns0:sp>
      <ns0:sp>
        <ns0:nvSpPr>
          <ns0:cNvPr id="33" name="Text 33"/>
          <ns0:cNvSpPr/>
          <ns0:nvPr/>
        </ns0:nvSpPr>
        <ns0:spPr>
          <ns0:xfrm xmlns:ns0="http://schemas.openxmlformats.org/drawingml/2006/main">
            <ns0:off x="4526280" y="3931920"/>
            <ns0:ext cx="3136392" cy="5760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Reduce troubled candidates continuously.</ns0:t>
            </ns0:r>
            <ns0:endParaRPr lang="en-US" sz="1600"/>
          </ns0:p>
        </ns0:txBody>
      </ns0:sp>
      <ns0:sp>
        <ns0:nvSpPr>
          <ns0:cNvPr id="34" name="Panel 34"/>
          <ns0:cNvSpPr/>
          <ns0:nvPr/>
        </ns0:nvSpPr>
        <ns0:spPr>
          <ns0:xfrm xmlns:ns0="http://schemas.openxmlformats.org/drawingml/2006/main">
            <ns0:off x="8083296" y="3282696"/>
            <ns0:ext cx="3557016" cy="2404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CF1EA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5" name="Text 35"/>
          <ns0:cNvSpPr/>
          <ns0:nvPr/>
        </ns0:nvSpPr>
        <ns0:spPr>
          <ns0:xfrm xmlns:ns0="http://schemas.openxmlformats.org/drawingml/2006/main">
            <ns0:off x="8293608" y="3483864"/>
            <ns0:ext cx="3136392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TENO discards</ns0:t>
            </ns0:r>
            <ns0:endParaRPr lang="en-US" sz="2100"/>
          </ns0:p>
        </ns0:txBody>
      </ns0:sp>
      <ns0:sp>
        <ns0:nvSpPr>
          <ns0:cNvPr id="36" name="Text 36"/>
          <ns0:cNvSpPr/>
          <ns0:nvPr/>
        </ns0:nvSpPr>
        <ns0:spPr>
          <ns0:xfrm xmlns:ns0="http://schemas.openxmlformats.org/drawingml/2006/main">
            <ns0:off x="8293608" y="3931920"/>
            <ns0:ext cx="3136392" cy="5760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Reject troubled candidates, then reweight.</ns0:t>
            </ns0:r>
            <ns0:endParaRPr lang="en-US" sz="1600"/>
          </ns0:p>
        </ns0:txBody>
      </ns0:sp>
      <ns0:sp>
        <ns0:nvSpPr>
          <ns0:cNvPr id="37" name="Text 37"/>
          <ns0:cNvSpPr/>
          <ns0:nvPr/>
        </ns0:nvSpPr>
        <ns0:spPr>
          <ns0:xfrm xmlns:ns0="http://schemas.openxmlformats.org/drawingml/2006/main">
            <ns0:off x="768096" y="4663440"/>
            <ns0:ext cx="3108960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Select using divided differences.</ns0:t>
            </ns0:r>
            <ns0:endParaRPr lang="en-US" sz="1500"/>
          </ns0:p>
        </ns0:txBody>
      </ns0:sp>
      <ns0:pic>
        <ns0:nvPicPr>
          <ns0:cNvPr id="38" name="Equation: \hat f_{i+1/2}=q_{k^*} 38" descr="Equation: \hat f_{i+1/2}=q_{k^*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1="http://schemas.openxmlformats.org/officeDocument/2006/relationships" ns11:embed="rId40">
            <ns0:extLst>
              <ns0:ext uri="{96DAC541-7B7A-43D3-8B79-37D633B846F1}">
                <ns0:svgBlip xmlns:ns0="http://schemas.microsoft.com/office/drawing/2016/SVG/main" ns11:embed="rId4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68096" y="5149578"/>
            <ns0:ext cx="1492331" cy="4541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39" name="Equation: \alpha_k=\frac{d_k}{(\varepsilon+\beta_k)^2} 39" descr="Equation: \alpha_k=\frac{d_k}{(\varepsilon+\beta_k)^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2="http://schemas.openxmlformats.org/officeDocument/2006/relationships" ns12:embed="rId42">
            <ns0:extLst>
              <ns0:ext uri="{96DAC541-7B7A-43D3-8B79-37D633B846F1}">
                <ns0:svgBlip xmlns:ns0="http://schemas.microsoft.com/office/drawing/2016/SVG/main" ns12:embed="rId4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35424" y="4553785"/>
            <ns0:ext cx="1456752" cy="57592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40" name="Equation: \omega_k=\alpha_k/\|\alpha\|_1 40" descr="Equation: \omega_k=\alpha_k/\|\alpha\|_1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3="http://schemas.openxmlformats.org/officeDocument/2006/relationships" ns13:embed="rId44">
            <ns0:extLst>
              <ns0:ext uri="{96DAC541-7B7A-43D3-8B79-37D633B846F1}">
                <ns0:svgBlip xmlns:ns0="http://schemas.microsoft.com/office/drawing/2016/SVG/main" ns13:embed="rId4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35424" y="5258143"/>
            <ns0:ext cx="1688208" cy="33764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41" name="Equation: \delta_k=\mathbf{1}[\chi_k\geq C_T] 41" descr="Equation: \delta_k=\mathbf{1}[\chi_k\geq C_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4="http://schemas.openxmlformats.org/officeDocument/2006/relationships" ns14:embed="rId46">
            <ns0:extLst>
              <ns0:ext uri="{96DAC541-7B7A-43D3-8B79-37D633B846F1}">
                <ns0:svgBlip xmlns:ns0="http://schemas.microsoft.com/office/drawing/2016/SVG/main" ns14:embed="rId4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302752" y="4630450"/>
            <ns0:ext cx="1915364" cy="31286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42" name="Equation: \omega_k=\frac{d_k\delta_k}{d\cdot\delta} 42" descr="Equation: \omega_k=\frac{d_k\delta_k}{d\cdot\delta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5="http://schemas.openxmlformats.org/officeDocument/2006/relationships" ns15:embed="rId48">
            <ns0:extLst>
              <ns0:ext uri="{96DAC541-7B7A-43D3-8B79-37D633B846F1}">
                <ns0:svgBlip xmlns:ns0="http://schemas.microsoft.com/office/drawing/2016/SVG/main" ns15:embed="rId4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302752" y="5134178"/>
            <ns0:ext cx="1080723" cy="48498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43" name="Equation: \hat f_{i+1/2}=\omega_0q_0+\omega_1q_1+\omega_2q_2,\qquad d=(0.1,0.6,0.3) 43" descr="Equation: \hat f_{i+1/2}=\omega_0q_0+\omega_1q_1+\omega_2q_2,\qquad d=(0.1,0.6,0.3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6="http://schemas.openxmlformats.org/officeDocument/2006/relationships" ns16:embed="rId50">
            <ns0:extLst>
              <ns0:ext uri="{96DAC541-7B7A-43D3-8B79-37D633B846F1}">
                <ns0:svgBlip xmlns:ns0="http://schemas.microsoft.com/office/drawing/2016/SVG/main" ns16:embed="rId5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0080" y="5898135"/>
            <ns0:ext cx="6579830" cy="438401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44" name="Text 44"/>
          <ns0:cNvSpPr/>
          <ns0:nvPr/>
        </ns0:nvSpPr>
        <ns0:spPr>
          <ns0:xfrm xmlns:ns0="http://schemas.openxmlformats.org/drawingml/2006/main">
            <ns0:off x="9034272" y="5961888"/>
            <ns0:ext cx="251460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β: smoothness   χ: TENO sensor</ns0:t>
            </ns0:r>
            <ns0:endParaRPr lang="en-US" sz="1150"/>
          </ns0:p>
        </ns0:txBody>
      </ns0:sp>
    </ns0:spTree>
  </ns0:cSld>
  <ns0:clrMapOvr>
    <ns0:masterClrMapping xmlns:ns0="http://schemas.openxmlformats.org/drawingml/2006/main"/>
  </ns0:clrMapOvr>
</ns0:sld>
</file>

<file path=ppt/slides/slide5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NN-TENO5 ARCHITECTURE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The network predicts which candidates to trust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05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76072" y="1499616"/>
            <ns0:ext cx="10972800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A local five-point stencil feeds a classifier with three troubled-candidate probabilities.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103120"/>
            <ns0:ext cx="3337560" cy="141732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68096" y="2276856"/>
            <ns0:ext cx="2889504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Normalize the input</ns0:t>
            </ns0:r>
            <ns0:endParaRPr lang="en-US" sz="1900"/>
          </ns0:p>
        </ns0:txBody>
      </ns0:sp>
      <ns0:pic>
        <ns0:nvPicPr>
          <ns0:cNvPr id="12" name="Equation: x_j'=\frac{x_j-\min(x)}{\max(x)-\min(x)} 12" descr="Equation: x_j'=\frac{x_j-\min(x)}{\max(x)-\min(x)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68096" y="2743933"/>
            <ns0:ext cx="1920313" cy="492310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76656" y="3648456"/>
            <ns0:ext cx="3200400" cy="4663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Constant stencils use a guarded denominator.</ns0:t>
            </ns0:r>
            <ns0:endParaRPr lang="en-US" sz="130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3968496" y="2734056"/>
            <ns0:ext cx="365760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4453128" y="2121408"/>
            <ns0:ext cx="5138928" cy="256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5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FEED-FORWARD CLASSIFIER</ns0:t>
            </ns0:r>
            <ns0:endParaRPr lang="en-US" sz="1150"/>
          </ns0:p>
        </ns0:txBody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4462272" y="2706624"/>
            <ns0:ext cx="694944" cy="69494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4462272" y="2834640"/>
            <ns0:ext cx="69494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5</ns0:t>
            </ns0:r>
            <ns0:endParaRPr lang="en-US" sz="23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5157216" y="2852928"/>
            <ns0:ext cx="26517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19" name="Panel 19"/>
          <ns0:cNvSpPr/>
          <ns0:nvPr/>
        </ns0:nvSpPr>
        <ns0:spPr>
          <ns0:xfrm xmlns:ns0="http://schemas.openxmlformats.org/drawingml/2006/main">
            <ns0:off x="5417820" y="2706624"/>
            <ns0:ext cx="694944" cy="69494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5417820" y="2834640"/>
            <ns0:ext cx="69494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64</ns0:t>
            </ns0:r>
            <ns0:endParaRPr lang="en-US" sz="23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6112764" y="2852928"/>
            <ns0:ext cx="26517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22" name="Panel 22"/>
          <ns0:cNvSpPr/>
          <ns0:nvPr/>
        </ns0:nvSpPr>
        <ns0:spPr>
          <ns0:xfrm xmlns:ns0="http://schemas.openxmlformats.org/drawingml/2006/main">
            <ns0:off x="6373368" y="2706624"/>
            <ns0:ext cx="694944" cy="69494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6373368" y="2834640"/>
            <ns0:ext cx="69494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32</ns0:t>
            </ns0:r>
            <ns0:endParaRPr lang="en-US" sz="230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7068312" y="2852928"/>
            <ns0:ext cx="26517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25" name="Panel 25"/>
          <ns0:cNvSpPr/>
          <ns0:nvPr/>
        </ns0:nvSpPr>
        <ns0:spPr>
          <ns0:xfrm xmlns:ns0="http://schemas.openxmlformats.org/drawingml/2006/main">
            <ns0:off x="7328916" y="2706624"/>
            <ns0:ext cx="694944" cy="69494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7328916" y="2834640"/>
            <ns0:ext cx="69494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16</ns0:t>
            </ns0:r>
            <ns0:endParaRPr lang="en-US" sz="2300"/>
          </ns0:p>
        </ns0:txBody>
      </ns0:sp>
      <ns0:sp>
        <ns0:nvSpPr>
          <ns0:cNvPr id="27" name="Text 27"/>
          <ns0:cNvSpPr/>
          <ns0:nvPr/>
        </ns0:nvSpPr>
        <ns0:spPr>
          <ns0:xfrm xmlns:ns0="http://schemas.openxmlformats.org/drawingml/2006/main">
            <ns0:off x="8023860" y="2852928"/>
            <ns0:ext cx="26517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28" name="Panel 28"/>
          <ns0:cNvSpPr/>
          <ns0:nvPr/>
        </ns0:nvSpPr>
        <ns0:spPr>
          <ns0:xfrm xmlns:ns0="http://schemas.openxmlformats.org/drawingml/2006/main">
            <ns0:off x="8284464" y="2706624"/>
            <ns0:ext cx="694944" cy="69494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9" name="Text 29"/>
          <ns0:cNvSpPr/>
          <ns0:nvPr/>
        </ns0:nvSpPr>
        <ns0:spPr>
          <ns0:xfrm xmlns:ns0="http://schemas.openxmlformats.org/drawingml/2006/main">
            <ns0:off x="8284464" y="2834640"/>
            <ns0:ext cx="69494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8</ns0:t>
            </ns0:r>
            <ns0:endParaRPr lang="en-US" sz="2300"/>
          </ns0:p>
        </ns0:txBody>
      </ns0:sp>
      <ns0:sp>
        <ns0:nvSpPr>
          <ns0:cNvPr id="30" name="Text 30"/>
          <ns0:cNvSpPr/>
          <ns0:nvPr/>
        </ns0:nvSpPr>
        <ns0:spPr>
          <ns0:xfrm xmlns:ns0="http://schemas.openxmlformats.org/drawingml/2006/main">
            <ns0:off x="8979408" y="2852928"/>
            <ns0:ext cx="26517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31" name="Panel 31"/>
          <ns0:cNvSpPr/>
          <ns0:nvPr/>
        </ns0:nvSpPr>
        <ns0:spPr>
          <ns0:xfrm xmlns:ns0="http://schemas.openxmlformats.org/drawingml/2006/main">
            <ns0:off x="9240012" y="2706624"/>
            <ns0:ext cx="694944" cy="69494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CF1EA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2" name="Text 32"/>
          <ns0:cNvSpPr/>
          <ns0:nvPr/>
        </ns0:nvSpPr>
        <ns0:spPr>
          <ns0:xfrm xmlns:ns0="http://schemas.openxmlformats.org/drawingml/2006/main">
            <ns0:off x="9240012" y="2834640"/>
            <ns0:ext cx="69494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3</ns0:t>
            </ns0:r>
            <ns0:endParaRPr lang="en-US" sz="2300"/>
          </ns0:p>
        </ns0:txBody>
      </ns0:sp>
      <ns0:sp>
        <ns0:nvSpPr>
          <ns0:cNvPr id="33" name="Text 33"/>
          <ns0:cNvSpPr/>
          <ns0:nvPr/>
        </ns0:nvSpPr>
        <ns0:spPr>
          <ns0:xfrm xmlns:ns0="http://schemas.openxmlformats.org/drawingml/2006/main">
            <ns0:off x="4379976" y="3557016"/>
            <ns0:ext cx="877824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5 inputs</ns0:t>
            </ns0:r>
            <ns0:endParaRPr lang="en-US" sz="1200"/>
          </ns0:p>
        </ns0:txBody>
      </ns0:sp>
      <ns0:sp>
        <ns0:nvSpPr>
          <ns0:cNvPr id="34" name="Text 34"/>
          <ns0:cNvSpPr/>
          <ns0:nvPr/>
        </ns0:nvSpPr>
        <ns0:spPr>
          <ns0:xfrm xmlns:ns0="http://schemas.openxmlformats.org/drawingml/2006/main">
            <ns0:off x="5513832" y="3557016"/>
            <ns0:ext cx="3264408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ReLU hidden layers</ns0:t>
            </ns0:r>
            <ns0:endParaRPr lang="en-US" sz="1200"/>
          </ns0:p>
        </ns0:txBody>
      </ns0:sp>
      <ns0:sp>
        <ns0:nvSpPr>
          <ns0:cNvPr id="35" name="Text 35"/>
          <ns0:cNvSpPr/>
          <ns0:nvPr/>
        </ns0:nvSpPr>
        <ns0:spPr>
          <ns0:xfrm xmlns:ns0="http://schemas.openxmlformats.org/drawingml/2006/main">
            <ns0:off x="9089136" y="3557016"/>
            <ns0:ext cx="105156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Sigmoid</ns0:t>
            </ns0:r>
            <ns0:endParaRPr lang="en-US" sz="1200"/>
          </ns0:p>
        </ns0:txBody>
      </ns0:sp>
      <ns0:pic>
        <ns0:nvPicPr>
          <ns0:cNvPr id="36" name="Equation: (p_0,p_1,p_2)=\mathrm{NN}_{\theta}(x') 36" descr="Equation: (p_0,p_1,p_2)=\mathrm{NN}_{\theta}(x'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830568" y="3991133"/>
            <ns0:ext cx="3051712" cy="36620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37" name="Panel 37"/>
          <ns0:cNvSpPr/>
          <ns0:nvPr/>
        </ns0:nvSpPr>
        <ns0:spPr>
          <ns0:xfrm xmlns:ns0="http://schemas.openxmlformats.org/drawingml/2006/main">
            <ns0:off x="548640" y="4617720"/>
            <ns0:ext cx="5422392" cy="102412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8" name="Panel 38"/>
          <ns0:cNvSpPr/>
          <ns0:nvPr/>
        </ns0:nvSpPr>
        <ns0:spPr>
          <ns0:xfrm xmlns:ns0="http://schemas.openxmlformats.org/drawingml/2006/main">
            <ns0:off x="6190488" y="4617720"/>
            <ns0:ext cx="5431536" cy="102412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9" name="Text 39"/>
          <ns0:cNvSpPr/>
          <ns0:nvPr/>
        </ns0:nvSpPr>
        <ns0:spPr>
          <ns0:xfrm xmlns:ns0="http://schemas.openxmlformats.org/drawingml/2006/main">
            <ns0:off x="768096" y="4773168"/>
            <ns0:ext cx="4974336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Training: continuous keep weights</ns0:t>
            </ns0:r>
            <ns0:endParaRPr lang="en-US" sz="1700"/>
          </ns0:p>
        </ns0:txBody>
      </ns0:sp>
      <ns0:pic>
        <ns0:nvPicPr>
          <ns0:cNvPr id="40" name="Equation: s_k=1-p_k 40" descr="Equation: s_k=1-p_k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68096" y="5176592"/>
            <ns0:ext cx="1351345" cy="29957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41" name="Text 41"/>
          <ns0:cNvSpPr/>
          <ns0:nvPr/>
        </ns0:nvSpPr>
        <ns0:spPr>
          <ns0:xfrm xmlns:ns0="http://schemas.openxmlformats.org/drawingml/2006/main">
            <ns0:off x="6409944" y="4773168"/>
            <ns0:ext cx="4992624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Optional hard inference: threshold decisions</ns0:t>
            </ns0:r>
            <ns0:endParaRPr lang="en-US" sz="1700"/>
          </ns0:p>
        </ns0:txBody>
      </ns0:sp>
      <ns0:pic>
        <ns0:nvPicPr>
          <ns0:cNvPr id="42" name="Equation: s_k=\mathbf{1}[p_k&lt;\vartheta_k] 42" descr="Equation: s_k=\mathbf{1}[p_k&lt;\vartheta_k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09944" y="5176178"/>
            <ns0:ext cx="1795744" cy="30040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43" name="Panel 43"/>
          <ns0:cNvSpPr/>
          <ns0:nvPr/>
        </ns0:nvSpPr>
        <ns0:spPr>
          <ns0:xfrm xmlns:ns0="http://schemas.openxmlformats.org/drawingml/2006/main">
            <ns0:off x="548640" y="5925312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157F8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44" name="Text 44"/>
          <ns0:cNvSpPr/>
          <ns0:nvPr/>
        </ns0:nvSpPr>
        <ns0:spPr>
          <ns0:xfrm xmlns:ns0="http://schemas.openxmlformats.org/drawingml/2006/main">
            <ns0:off x="704088" y="5916168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The network changes candidate decisions; the solver still determines fluxes and time evolution.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6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LEARNING METHODOLOGY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Physics training evaluates the evolved solution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06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581912"/>
            <ns0:ext cx="5422392" cy="30906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6190488" y="1581912"/>
            <ns0:ext cx="5431536" cy="30906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77240" y="1792224"/>
            <ns0:ext cx="4937760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01  Imitation learning</ns0:t>
            </ns0:r>
            <ns0:endParaRPr lang="en-US" sz="220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777240" y="2295144"/>
            <ns0:ext cx="4937760" cy="4480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Learn the classical TENO5 keep/discard labels.</ns0:t>
            </ns0:r>
            <ns0:endParaRPr lang="en-US" sz="1700"/>
          </ns0:p>
        </ns0:txBody>
      </ns0:sp>
      <ns0:pic>
        <ns0:nvPicPr>
          <ns0:cNvPr id="13" name="Equation: p=\mathrm{NN}_{\theta}(x') 13" descr="Equation: p=\mathrm{NN}_{\theta}(x'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2927044"/>
            <ns0:ext cx="1655434" cy="36383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4" name="Equation: \mathcal{L}_{\mathrm{imit}}=\mathrm{BCE}(p,y_{\mathrm{TENO5}}) 14" descr="Equation: \mathcal{L}_{\mathrm{imit}}=\mathrm{BCE}(p,y_{\mathrm{TENO5}}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3650277"/>
            <ns0:ext cx="3144704" cy="36211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777240" y="4206240"/>
            <ns0:ext cx="4892040" cy="4480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Useful initialization; the teacher supplies no direct</ns0:t>
            </ns0:r>
            <ns0:endParaRPr lang="en-US" sz="145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signal for lower physical solution error.</ns0:t>
            </ns0:r>
            <ns0:endParaRPr lang="en-US" sz="145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6419088" y="1792224"/>
            <ns0:ext cx="4956048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02  Unrolled physics training</ns0:t>
            </ns0:r>
            <ns0:endParaRPr lang="en-US" sz="2200"/>
          </ns0:p>
        </ns0:txBody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6419088" y="2295144"/>
            <ns0:ext cx="4937760" cy="4480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Differentiate through K complete SSPRK3 steps.</ns0:t>
            </ns0:r>
            <ns0:endParaRPr lang="en-US" sz="1700"/>
          </ns0:p>
        </ns0:txBody>
      </ns0:sp>
      <ns0:pic>
        <ns0:nvPicPr>
          <ns0:cNvPr id="18" name="Equation: U_{\theta}^{n+K}=\mathcal{S}_{\theta}^{K}(U^n) 18" descr="Equation: U_{\theta}^{n+K}=\mathcal{S}_{\theta}^{K}(U^n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19088" y="2927044"/>
            <ns0:ext cx="2140886" cy="43698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9" name="Equation: \mathcal{L}_{\mathrm{MSE}}=\mathrm{mean}\!\left[(U_{\theta}^{n+K}-U_{\mathrm{ref}}^{n+K})^2\right] 19" descr="Equation: \mathcal{L}_{\mathrm{MSE}}=\mathrm{mean}\!\left[(U_{\theta}^{n+K}-U_{\mathrm{ref}}^{n+K})^2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19088" y="3643048"/>
            <ns0:ext cx="4070577" cy="40400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419088" y="4206240"/>
            <ns0:ext cx="4892040" cy="4480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The gradient crosses reconstruction, fluxes</ns0:t>
            </ns0:r>
            <ns0:endParaRPr lang="en-US" sz="145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and every Runge–Kutta substage.</ns0:t>
            </ns0:r>
            <ns0:endParaRPr lang="en-US" sz="145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603504" y="4956048"/>
            <ns0:ext cx="1097280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Combined training objective</ns0:t>
            </ns0:r>
            <ns0:endParaRPr lang="en-US" sz="1900"/>
          </ns0:p>
        </ns0:txBody>
      </ns0:sp>
      <ns0:pic>
        <ns0:nvPicPr>
          <ns0:cNvPr id="22" name="Equation: \mathcal{L}=\lambda_{\mathrm{MSE}}\mathcal{L}_{\mathrm{MSE}}+\lambda_{\mathrm{TV}}\mathcal{L}_{\mathrm{TV}}+\lambda_{\mathrm{BVD}}\mathcal{L}_{\mathrm{BVD}}+\lambda_{\mathrm{Reg}}\mathcal{L}_{\mathrm{Reg}}+\lambda_{+}\mathcal{L}_{+} 22" descr="Equation: \mathcal{L}=\lambda_{\mathrm{MSE}}\mathcal{L}_{\mathrm{MSE}}+\lambda_{\mathrm{TV}}\mathcal{L}_{\mathrm{TV}}+\lambda_{\mathrm{BVD}}\mathcal{L}_{\mathrm{BVD}}+\lambda_{\mathrm{Reg}}\mathcal{L}_{\mathrm{Reg}}+\lambda_{+}\mathcal{L}_{+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6="http://schemas.openxmlformats.org/officeDocument/2006/relationships" ns6:embed="rId30">
            <ns0:extLst>
              <ns0:ext uri="{96DAC541-7B7A-43D3-8B79-37D633B846F1}">
                <ns0:svgBlip xmlns:ns0="http://schemas.microsoft.com/office/drawing/2016/SVG/main" ns6:embed="rId3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12648" y="5439152"/>
            <ns0:ext cx="7768737" cy="39624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3" name="Panel 23"/>
          <ns0:cNvSpPr/>
          <ns0:nvPr/>
        </ns0:nvSpPr>
        <ns0:spPr>
          <ns0:xfrm xmlns:ns0="http://schemas.openxmlformats.org/drawingml/2006/main">
            <ns0:off x="548640" y="5980176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157F8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704088" y="5971032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Pretrain by imitation, normalize loss terms, then fine-tune against a physical reference.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7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STABILITY AND PHYSICAL CONSTRAINTS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Hybrid reconstruction supports stable Euler training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07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554480"/>
            <ns0:ext cx="11082528" cy="119786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0" name="Equation: \Phi_{\mathrm{mix}}=(1-\lambda)\Phi_{\mathrm{TENO5}}+\lambda\Phi_{\mathrm{NN}},\qquad 0\leq\lambda\leq1 10" descr="Equation: \Phi_{\mathrm{mix}}=(1-\lambda)\Phi_{\mathrm{TENO5}}+\lambda\Phi_{\mathrm{NN}},\qquad 0\leq\lambda\leq1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13816" y="1814309"/>
            <ns0:ext cx="7269930" cy="40388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822960" y="2404872"/>
            <ns0:ext cx="1042416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A dedicated sigmoid head starts near TENO5: σ(−3) ≈ 0.047.</ns0:t>
            </ns0:r>
            <ns0:endParaRPr lang="en-US" sz="155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630936" y="2999232"/>
            <ns0:ext cx="563270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Observed Euler training instability</ns0:t>
            </ns0:r>
            <ns0:endParaRPr lang="en-US" sz="2000"/>
          </ns0:p>
        </ns0:txBody>
      </ns0:sp>
      <ns0:pic>
        <ns0:nvPicPr>
          <ns0:cNvPr id="13" name="Real instability trace from models/euler_instability_trace.csv 13" descr="Real instability trace from models/euler_instability_trace.csv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935502" y="3483864"/>
            <ns0:ext cx="5169877" cy="2560320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49224" y="6053328"/>
            <ns0:ext cx="574243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× marks a nonfinite state. Extra dissipation alone did not stabilize training.</ns0:t>
            </ns0:r>
            <ns0:endParaRPr lang="en-US" sz="11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729984" y="2999232"/>
            <ns0:ext cx="471830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Physical admissibility</ns0:t>
            </ns0:r>
            <ns0:endParaRPr lang="en-US" sz="2000"/>
          </ns0:p>
        </ns0:txBody>
      </ns0:sp>
      <ns0:pic>
        <ns0:nvPicPr>
          <ns0:cNvPr id="16" name="Equation: \rho&gt;0,\qquad p=(\gamma-1)\!\left(E-\frac{m^2}{2\rho}\right)&gt;0 16" descr="Equation: \rho&gt;0,\qquad p=(\gamma-1)\!\left(E-\frac{m^2}{2\rho}\right)&gt;0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5">
            <ns0:extLst>
              <ns0:ext uri="{96DAC541-7B7A-43D3-8B79-37D633B846F1}">
                <ns0:svgBlip xmlns:ns0="http://schemas.microsoft.com/office/drawing/2016/SVG/main" ns4:embed="rId26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729984" y="3567577"/>
            <ns0:ext cx="4173557" cy="509231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6729984" y="4169664"/>
            <ns0:ext cx="461772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m = ρv; γ = 1.4 for the project benchmarks.</ns0:t>
            </ns0:r>
            <ns0:endParaRPr lang="en-US" sz="125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729984" y="4608576"/>
            <ns0:ext cx="466344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Guard every substage</ns0:t>
            </ns0:r>
            <ns0:endParaRPr lang="en-US" sz="17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6729984" y="4901184"/>
            <ns0:ext cx="4681728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Measure positivity violations before repair.</ns0:t>
            </ns0:r>
            <ns0:endParaRPr lang="en-US" sz="1400"/>
          </ns0:p>
        </ns0:txBody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729984" y="5202936"/>
            <ns0:ext cx="466344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Control optimization</ns0:t>
            </ns0:r>
            <ns0:endParaRPr lang="en-US" sz="17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6729984" y="5495544"/>
            <ns0:ext cx="4681728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Use rollout curriculum, anchoring and clipping.</ns0:t>
            </ns0:r>
            <ns0:endParaRPr lang="en-US" sz="1400"/>
          </ns0:p>
        </ns0:txBody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6729984" y="5797296"/>
            <ns0:ext cx="466344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Validate the final solver</ns0:t>
            </ns0:r>
            <ns0:endParaRPr lang="en-US" sz="1700"/>
          </ns0:p>
        </ns0:txBody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6729984" y="6089904"/>
            <ns0:ext cx="4681728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Mixing alone is not a positivity or TVD proof.</ns0:t>
            </ns0:r>
            <ns0:endParaRPr lang="en-US" sz="1400"/>
          </ns0:p>
        </ns0:txBody>
      </ns0:sp>
    </ns0:spTree>
  </ns0:cSld>
  <ns0:clrMapOvr>
    <ns0:masterClrMapping xmlns:ns0="http://schemas.openxmlformats.org/drawingml/2006/main"/>
  </ns0:clrMapOvr>
</ns0:sld>
</file>

<file path=ppt/slides/slide8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RESULTS · SCALAR CONSERVATION LAWS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Final scalar benchmarks improve on TENO5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08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603504" y="1527048"/>
            <ns0:ext cx="6912864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Earlier WENO-NN experiments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1956816"/>
            <ns0:ext cx="3575304" cy="274320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Panel 11"/>
          <ns0:cNvSpPr/>
          <ns0:nvPr/>
        </ns0:nvSpPr>
        <ns0:spPr>
          <ns0:xfrm xmlns:ns0="http://schemas.openxmlformats.org/drawingml/2006/main">
            <ns0:off x="4288536" y="1956816"/>
            <ns0:ext cx="3575304" cy="274320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2" name="Original WENO-NN discontinuity width plot 12" descr="Original WENO-NN discontinuity width plot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76656" y="2039112"/>
            <ns0:ext cx="3328416" cy="249631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3" name="Original WENO-NN Burgers convergence plot 13" descr="Original WENO-NN Burgers convergence plot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416552" y="2039112"/>
            <ns0:ext cx="3328416" cy="249631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94944" y="4828032"/>
            <ns0:ext cx="3291840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Sharper advected discontinuities</ns0:t>
            </ns0:r>
            <ns0:endParaRPr lang="en-US" sz="15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4443984" y="4828032"/>
            <ns0:ext cx="3291840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Competitive Burgers convergence</ns0:t>
            </ns0:r>
            <ns0:endParaRPr lang="en-US" sz="1500"/>
          </ns0:p>
        </ns0:txBody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8129016" y="1554480"/>
            <ns0:ext cx="3502152" cy="393192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8357616" y="1746504"/>
            <ns0:ext cx="3035808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Final NN-TENO5</ns0:t>
            </ns0:r>
            <ns0:endParaRPr lang="en-US" sz="21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8357616" y="2167128"/>
            <ns0:ext cx="3035808" cy="31089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Dedicated mixing head · Phase 19</ns0:t>
            </ns0:r>
            <ns0:endParaRPr lang="en-US" sz="13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8357616" y="2724912"/>
            <ns0:ext cx="3035808" cy="6766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400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3.5%</ns0:t>
            </ns0:r>
            <ns0:endParaRPr lang="en-US" sz="4000"/>
          </ns0:p>
        </ns0:txBody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8357616" y="3401568"/>
            <ns0:ext cx="3017520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lower L₂ error on advection</ns0:t>
            </ns0:r>
            <ns0:endParaRPr lang="en-US" sz="16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8357616" y="4087368"/>
            <ns0:ext cx="3035808" cy="6766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400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18.6%</ns0:t>
            </ns0:r>
            <ns0:endParaRPr lang="en-US" sz="4000"/>
          </ns0:p>
        </ns0:txBody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8357616" y="4764024"/>
            <ns0:ext cx="3017520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lower L₂ error on Burgers</ns0:t>
            </ns0:r>
            <ns0:endParaRPr lang="en-US" sz="1600"/>
          </ns0:p>
        </ns0:txBody>
      </ns0:sp>
      <ns0:pic>
        <ns0:nvPicPr>
          <ns0:cNvPr id="23" name="Equation: L_2=\frac{\|u-u_{\mathrm{ref}}\|_2}{\sqrt{N}} 23" descr="Equation: L_2=\frac{\|u-u_{\mathrm{ref}}\|_2}{\sqrt{N}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4">
            <ns0:extLst>
              <ns0:ext uri="{96DAC541-7B7A-43D3-8B79-37D633B846F1}">
                <ns0:svgBlip xmlns:ns0="http://schemas.microsoft.com/office/drawing/2016/SVG/main" ns4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76656" y="5376743"/>
            <ns0:ext cx="1482604" cy="54849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676656" y="6007608"/>
            <ns0:ext cx="10872216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Advection: 9.8960×10⁻² → 9.5521×10⁻²   |   Burgers: 8.1670×10⁻⁴ → 6.6493×10⁻⁴</ns0:t>
            </ns0:r>
            <ns0:endParaRPr lang="en-US" sz="1350"/>
          </ns0:p>
        </ns0:txBody>
      </ns0:sp>
    </ns0:spTree>
  </ns0:cSld>
  <ns0:clrMapOvr>
    <ns0:masterClrMapping xmlns:ns0="http://schemas.openxmlformats.org/drawingml/2006/main"/>
  </ns0:clrMapOvr>
</ns0:sld>
</file>

<file path=ppt/slides/slide9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RESULTS · COMPRESSIBLE EULER EQUATIONS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Euler gains depend on the benchmark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09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563624"/>
            <ns0:ext cx="5422392" cy="3547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749808" y="1783080"/>
            <ns0:ext cx="502005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Sod shock tube</ns0:t>
            </ns0:r>
            <ns0:endParaRPr lang="en-US" sz="1900"/>
          </ns0:p>
        </ns0:txBody>
      </ns0:sp>
      <ns0:sp>
        <ns0:nvSpPr>
          <ns0:cNvPr id="11" name="Panel 11"/>
          <ns0:cNvSpPr/>
          <ns0:nvPr/>
        </ns0:nvSpPr>
        <ns0:spPr>
          <ns0:xfrm xmlns:ns0="http://schemas.openxmlformats.org/drawingml/2006/main">
            <ns0:off x="6199632" y="1563624"/>
            <ns0:ext cx="5422392" cy="3547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6400800" y="1783080"/>
            <ns0:ext cx="502005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Shu–Osher shock–entropy interaction</ns0:t>
            </ns0:r>
            <ns0:endParaRPr lang="en-US" sz="1900"/>
          </ns0:p>
        </ns0:txBody>
      </ns0:sp>
      <ns0:pic>
        <ns0:nvPicPr>
          <ns0:cNvPr id="13" name="Original Sod wave structure diagram 13" descr="Original Sod wave structure diagram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58952" y="2580254"/>
            <ns0:ext cx="5010912" cy="156033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768096" y="4434840"/>
            <ns0:ext cx="4937760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Rarefaction, contact discontinuity and shock</ns0:t>
            </ns0:r>
            <ns0:endParaRPr lang="en-US" sz="1400"/>
          </ns0:p>
        </ns0:txBody>
      </ns0:sp>
      <ns0:pic>
        <ns0:nvPicPr>
          <ns0:cNvPr id="15" name="Original final Phase 18 Shu–Osher comparison against the reference 15" descr="Original final Phase 18 Shu–Osher comparison against the reference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00800" y="2397000"/>
            <ns0:ext cx="5010912" cy="250291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749808" y="5394960"/>
            <ns0:ext cx="2414016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80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+0.35% error</ns0:t>
            </ns0:r>
            <ns0:endParaRPr lang="en-US" sz="2800"/>
          </ns0:p>
        </ns0:txBody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3291840" y="5440680"/>
            <ns0:ext cx="253288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Near parity; TENO5 remains slightly better.</ns0:t>
            </ns0:r>
            <ns0:endParaRPr lang="en-US" sz="16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400800" y="5394960"/>
            <ns0:ext cx="2642616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80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−1.84% error</ns0:t>
            </ns0:r>
            <ns0:endParaRPr lang="en-US" sz="28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9153144" y="5440680"/>
            <ns0:ext cx="2276856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A modest gain with the learned mixing head.</ns0:t>
            </ns0:r>
            <ns0:endParaRPr lang="en-US" sz="1600"/>
          </ns0:p>
        </ns0:txBody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85800" y="6062472"/>
            <ns0:ext cx="1090879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Metric: mean L₁ over (ρ, ρv, E). 120 cells, CFL 0.4. Sod: exact reference; Shu–Osher: 320-cell TENO5 reference.</ns0:t>
            </ns0:r>
            <ns0:endParaRPr lang="en-US" sz="1200"/>
          </ns0:p>
        </ns0:txBody>
      </ns0:sp>
    </ns0:spTree>
  </ns0:cSld>
  <ns0:clrMapOvr>
    <ns0:masterClrMapping xmlns:ns0="http://schemas.openxmlformats.org/drawingml/2006/main"/>
  </ns0:clrMapOvr>
</ns0:sld>
</file>

<file path=ppt/slides/slide10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CONCLUSION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Learning adds value inside a robust numerical solver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10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609344"/>
            <ns0:ext cx="11082528" cy="128016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832104" y="1883664"/>
            <ns0:ext cx="10497312" cy="7863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Learn the reconstruction decision.</ns0:t>
            </ns0:r>
            <ns0:endParaRPr lang="en-US" sz="27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Keep the numerical and physical structure visible.</ns0:t>
            </ns0:r>
            <ns0:endParaRPr lang="en-US" sz="2700"/>
          </ns0:p>
        </ns0:txBody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03504" y="3328416"/>
            <ns0:ext cx="339242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What I built</ns0:t>
            </ns0:r>
            <ns0:endParaRPr lang="en-US" sz="2200"/>
          </ns0:p>
        </ns0:txBody>
      </ns0:sp>
      <ns0:sp>
        <ns0:nvSpPr>
          <ns0:cNvPr id="12" name="Panel 12"/>
          <ns0:cNvSpPr/>
          <ns0:nvPr/>
        </ns0:nvSpPr>
        <ns0:spPr>
          <ns0:xfrm xmlns:ns0="http://schemas.openxmlformats.org/drawingml/2006/main">
            <ns0:off x="603504" y="3840480"/>
            <ns0:ext cx="457200" cy="32004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9582B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03504" y="4123944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WENO/TENO reconstruction framework</ns0:t>
            </ns0:r>
            <ns0:endParaRPr lang="en-US" sz="180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03504" y="4754880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Neural stencil-decision models</ns0:t>
            </ns0:r>
            <ns0:endParaRPr lang="en-US" sz="18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03504" y="5385816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Differentiable CFD training in JAX</ns0:t>
            </ns0:r>
            <ns0:endParaRPr lang="en-US" sz="180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4379976" y="3328416"/>
            <ns0:ext cx="339242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What the results show</ns0:t>
            </ns0:r>
            <ns0:endParaRPr lang="en-US" sz="2200"/>
          </ns0:p>
        </ns0:txBody>
      </ns0:sp>
      <ns0:sp>
        <ns0:nvSpPr>
          <ns0:cNvPr id="17" name="Panel 17"/>
          <ns0:cNvSpPr/>
          <ns0:nvPr/>
        </ns0:nvSpPr>
        <ns0:spPr>
          <ns0:xfrm xmlns:ns0="http://schemas.openxmlformats.org/drawingml/2006/main">
            <ns0:off x="4379976" y="3840480"/>
            <ns0:ext cx="457200" cy="32004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9582B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4379976" y="4123944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Scalar gains: 3.5% and 18.6% in L₂</ns0:t>
            </ns0:r>
            <ns0:endParaRPr lang="en-US" sz="18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4379976" y="4754880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Shu–Osher: 1.84% lower mean L₁</ns0:t>
            </ns0:r>
            <ns0:endParaRPr lang="en-US" sz="1800"/>
          </ns0:p>
        </ns0:txBody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4379976" y="5385816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Sod: near parity, 0.35% higher error</ns0:t>
            </ns0:r>
            <ns0:endParaRPr lang="en-US" sz="18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8165592" y="3328416"/>
            <ns0:ext cx="339242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What comes next</ns0:t>
            </ns0:r>
            <ns0:endParaRPr lang="en-US" sz="2200"/>
          </ns0:p>
        </ns0:txBody>
      </ns0:sp>
      <ns0:sp>
        <ns0:nvSpPr>
          <ns0:cNvPr id="22" name="Panel 22"/>
          <ns0:cNvSpPr/>
          <ns0:nvPr/>
        </ns0:nvSpPr>
        <ns0:spPr>
          <ns0:xfrm xmlns:ns0="http://schemas.openxmlformats.org/drawingml/2006/main">
            <ns0:off x="8165592" y="3840480"/>
            <ns0:ext cx="457200" cy="32004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9582B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8165592" y="4123944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Improve the Euler reconstruction model</ns0:t>
            </ns0:r>
            <ns0:endParaRPr lang="en-US" sz="180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8165592" y="4754880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Validate across grids and flow cases</ns0:t>
            </ns0:r>
            <ns0:endParaRPr lang="en-US" sz="1800"/>
          </ns0:p>
        </ns0:txBody>
      </ns0:sp>
      <ns0:sp>
        <ns0:nvSpPr>
          <ns0:cNvPr id="25" name="Text 25"/>
          <ns0:cNvSpPr/>
          <ns0:nvPr/>
        </ns0:nvSpPr>
        <ns0:spPr>
          <ns0:xfrm xmlns:ns0="http://schemas.openxmlformats.org/drawingml/2006/main">
            <ns0:off x="8165592" y="5385816"/>
            <ns0:ext cx="3401568" cy="5852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Extend the framework toward 2D CFD</ns0:t>
            </ns0:r>
            <ns0:endParaRPr lang="en-US" sz="1800"/>
          </ns0:p>
        </ns0:txBody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603504" y="6099048"/>
            <ns0:ext cx="10972800" cy="256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0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Discussion</ns0:t>
            </ns0:r>
            <ns0:endParaRPr lang="en-US" sz="1300"/>
          </ns0:p>
        </ns0:txBody>
      </ns0:sp>
    </ns0:spTree>
  </ns0:cSld>
  <ns0:clrMapOvr>
    <ns0:masterClrMapping xmlns:ns0="http://schemas.openxmlformats.org/drawingml/2006/main"/>
  </ns0:clrMapOvr>
</ns0:sld>
</file>

<file path=ppt/slides/slide11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MATHEMATICAL BACKUP · TRAINING LOSS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The physics loss balances accuracy and regularity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11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609344"/>
            <ns0:ext cx="5422392" cy="1984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768096" y="1783080"/>
            <ns0:ext cx="497433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Accuracy</ns0:t>
            </ns0:r>
            <ns0:endParaRPr lang="en-US" sz="2100"/>
          </ns0:p>
        </ns0:txBody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68096" y="2249424"/>
            <ns0:ext cx="4974336" cy="3749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Mean square error against the evolved reference.</ns0:t>
            </ns0:r>
            <ns0:endParaRPr lang="en-US" sz="1500"/>
          </ns0:p>
        </ns0:txBody>
      </ns0:sp>
      <ns0:sp>
        <ns0:nvSpPr>
          <ns0:cNvPr id="12" name="Panel 12"/>
          <ns0:cNvSpPr/>
          <ns0:nvPr/>
        </ns0:nvSpPr>
        <ns0:spPr>
          <ns0:xfrm xmlns:ns0="http://schemas.openxmlformats.org/drawingml/2006/main">
            <ns0:off x="6199632" y="1609344"/>
            <ns0:ext cx="5422392" cy="1984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419088" y="1783080"/>
            <ns0:ext cx="497433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Total variation</ns0:t>
            </ns0:r>
            <ns0:endParaRPr lang="en-US" sz="210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419088" y="2249424"/>
            <ns0:ext cx="4974336" cy="3749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Penalize extra variation; normalize by cell count.</ns0:t>
            </ns0:r>
            <ns0:endParaRPr lang="en-US" sz="1500"/>
          </ns0:p>
        </ns0:txBody>
      </ns0:sp>
      <ns0:sp>
        <ns0:nvSpPr>
          <ns0:cNvPr id="15" name="Panel 15"/>
          <ns0:cNvSpPr/>
          <ns0:nvPr/>
        </ns0:nvSpPr>
        <ns0:spPr>
          <ns0:xfrm xmlns:ns0="http://schemas.openxmlformats.org/drawingml/2006/main">
            <ns0:off x="548640" y="3794760"/>
            <ns0:ext cx="5422392" cy="1984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768096" y="3968496"/>
            <ns0:ext cx="497433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Boundary variation</ns0:t>
            </ns0:r>
            <ns0:endParaRPr lang="en-US" sz="2100"/>
          </ns0:p>
        </ns0:txBody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768096" y="4434840"/>
            <ns0:ext cx="4974336" cy="3749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Compare neighbors at the same interface.</ns0:t>
            </ns0:r>
            <ns0:endParaRPr lang="en-US" sz="1500"/>
          </ns0:p>
        </ns0:txBody>
      </ns0:sp>
      <ns0:sp>
        <ns0:nvSpPr>
          <ns0:cNvPr id="18" name="Panel 18"/>
          <ns0:cNvSpPr/>
          <ns0:nvPr/>
        </ns0:nvSpPr>
        <ns0:spPr>
          <ns0:xfrm xmlns:ns0="http://schemas.openxmlformats.org/drawingml/2006/main">
            <ns0:off x="6199632" y="3794760"/>
            <ns0:ext cx="5422392" cy="1984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6419088" y="3968496"/>
            <ns0:ext cx="497433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Anchor regularization</ns0:t>
            </ns0:r>
            <ns0:endParaRPr lang="en-US" sz="2100"/>
          </ns0:p>
        </ns0:txBody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419088" y="4434840"/>
            <ns0:ext cx="4974336" cy="3749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Limit drift from the stable pretrained parameters.</ns0:t>
            </ns0:r>
            <ns0:endParaRPr lang="en-US" sz="1500"/>
          </ns0:p>
        </ns0:txBody>
      </ns0:sp>
      <ns0:pic>
        <ns0:nvPicPr>
          <ns0:cNvPr id="21" name="Equation: \mathcal{L}_{\mathrm{MSE}}=\mathrm{mean}\!\left[(U_{\theta}^{n+K}-U_{\mathrm{ref}}^{n+K})^2\right] 21" descr="Equation: \mathcal{L}_{\mathrm{MSE}}=\mathrm{mean}\!\left[(U_{\theta}^{n+K}-U_{\mathrm{ref}}^{n+K})^2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2842948"/>
            <ns0:ext cx="4070577" cy="40400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2" name="Equation: \mathcal{L}_{\mathrm{TV}}=\frac{[\,TV(U^{n+K})-TV(U^n)\,]_+}{N-1} 22" descr="Equation: \mathcal{L}_{\mathrm{TV}}=\frac{[\,TV(U^{n+K})-TV(U^n)\,]_+}{N-1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28232" y="2771984"/>
            <ns0:ext cx="2970669" cy="50935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3" name="Equation: BV_{i+1/2}=|\Phi_i(x_{i+1/2})-\Phi_{i+1}(x_{i+1/2})| 23" descr="Equation: BV_{i+1/2}=|\Phi_i(x_{i+1/2})-\Phi_{i+1}(x_{i+1/2})|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4891965"/>
            <ns0:ext cx="4597012" cy="320190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4" name="Equation: \mathcal{L}_{\mathrm{BVD}}=\mathrm{mean}[\,BV_{\mathrm{NN}}-BV_{\mathrm{TENO5}}\,]_+ 24" descr="Equation: \mathcal{L}_{\mathrm{BVD}}=\mathrm{mean}[\,BV_{\mathrm{NN}}-BV_{\mathrm{TENO5}}\,]_+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5377051"/>
            <ns0:ext cx="4194878" cy="30099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5" name="Equation: \mathcal{L}_{\mathrm{Reg}}=\frac{\|\theta-\theta_{\mathrm{anchor}}\|_2^2}{P} 25" descr="Equation: \mathcal{L}_{\mathrm{Reg}}=\frac{\|\theta-\theta_{\mathrm{anchor}}\|_2^2}{P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6="http://schemas.openxmlformats.org/officeDocument/2006/relationships" ns6:embed="rId30">
            <ns0:extLst>
              <ns0:ext uri="{96DAC541-7B7A-43D3-8B79-37D633B846F1}">
                <ns0:svgBlip xmlns:ns0="http://schemas.microsoft.com/office/drawing/2016/SVG/main" ns6:embed="rId3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28232" y="4993613"/>
            <ns0:ext cx="2150070" cy="53751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694944" y="6071616"/>
            <ns0:ext cx="1088136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[z]₊ = max(z, 0); TV(U) = Σᵢ |Uᵢ₊₁ − Uᵢ|; P = parameter count. Euler positivity is measured before state repair.</ns0:t>
            </ns0:r>
            <ns0:endParaRPr lang="en-US" sz="1250"/>
          </ns0:p>
        </ns0:txBody>
      </ns0:sp>
    </ns0:spTree>
  </ns0:cSld>
  <ns0:clrMapOvr>
    <ns0:masterClrMapping xmlns:ns0="http://schemas.openxmlformats.org/drawingml/2006/main"/>
  </ns0:clrMapOvr>
</ns0:sld>
</file>

<file path=ppt/slides/slide12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MATHEMATICAL BACKUP · COMPLETE WORKFLOW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The learned decision sits inside every solver step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12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94360" y="1545336"/>
            <ns0:ext cx="1096365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Forward numerical path</ns0:t>
            </ns0:r>
            <ns0:endParaRPr lang="en-US" sz="20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084832"/>
            <ns0:ext cx="1664208" cy="841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21792" y="226771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State +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local stencil</ns0:t>
            </ns0:r>
            <ns0:endParaRPr lang="en-US" sz="170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2212848" y="2313432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13" name="Panel 13"/>
          <ns0:cNvSpPr/>
          <ns0:nvPr/>
        </ns0:nvSpPr>
        <ns0:spPr>
          <ns0:xfrm xmlns:ns0="http://schemas.openxmlformats.org/drawingml/2006/main">
            <ns0:off x="2429561" y="2084832"/>
            <ns0:ext cx="1664208" cy="841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2502713" y="226771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Scalar / Euler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setup</ns0:t>
            </ns0:r>
            <ns0:endParaRPr lang="en-US" sz="17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4093769" y="2313432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4310482" y="2084832"/>
            <ns0:ext cx="1664208" cy="841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4383634" y="226771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WENO / TENO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or NN selector</ns0:t>
            </ns0:r>
            <ns0:endParaRPr lang="en-US" sz="17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5974690" y="2313432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19" name="Panel 19"/>
          <ns0:cNvSpPr/>
          <ns0:nvPr/>
        </ns0:nvSpPr>
        <ns0:spPr>
          <ns0:xfrm xmlns:ns0="http://schemas.openxmlformats.org/drawingml/2006/main">
            <ns0:off x="6191402" y="2084832"/>
            <ns0:ext cx="1664208" cy="841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264554" y="226771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Interface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flux</ns0:t>
            </ns0:r>
            <ns0:endParaRPr lang="en-US" sz="17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7855610" y="2313432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22" name="Panel 22"/>
          <ns0:cNvSpPr/>
          <ns0:nvPr/>
        </ns0:nvSpPr>
        <ns0:spPr>
          <ns0:xfrm xmlns:ns0="http://schemas.openxmlformats.org/drawingml/2006/main">
            <ns0:off x="8072323" y="2084832"/>
            <ns0:ext cx="1664208" cy="841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8145475" y="226771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SSPRK3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step</ns0:t>
            </ns0:r>
            <ns0:endParaRPr lang="en-US" sz="170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9736531" y="2313432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</ns0:t>
            </ns0:r>
            <ns0:endParaRPr lang="en-US" sz="2300"/>
          </ns0:p>
        </ns0:txBody>
      </ns0:sp>
      <ns0:sp>
        <ns0:nvSpPr>
          <ns0:cNvPr id="25" name="Panel 25"/>
          <ns0:cNvSpPr/>
          <ns0:nvPr/>
        </ns0:nvSpPr>
        <ns0:spPr>
          <ns0:xfrm xmlns:ns0="http://schemas.openxmlformats.org/drawingml/2006/main">
            <ns0:off x="9953244" y="2084832"/>
            <ns0:ext cx="1664208" cy="84124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10026396" y="226771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K-step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rollout</ns0:t>
            </ns0:r>
            <ns0:endParaRPr lang="en-US" sz="1700"/>
          </ns0:p>
        </ns0:txBody>
      </ns0:sp>
      <ns0:sp>
        <ns0:nvSpPr>
          <ns0:cNvPr id="27" name="Panel 27"/>
          <ns0:cNvSpPr/>
          <ns0:nvPr/>
        </ns0:nvSpPr>
        <ns0:spPr>
          <ns0:xfrm xmlns:ns0="http://schemas.openxmlformats.org/drawingml/2006/main">
            <ns0:off x="4325112" y="3108960"/>
            <ns0:ext cx="1609344" cy="3657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157F8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8" name="Text 28"/>
          <ns0:cNvSpPr/>
          <ns0:nvPr/>
        </ns0:nvSpPr>
        <ns0:spPr>
          <ns0:xfrm xmlns:ns0="http://schemas.openxmlformats.org/drawingml/2006/main">
            <ns0:off x="3995928" y="3300984"/>
            <ns0:ext cx="237744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1" dirty="0">
                <ns0:solidFill>
                  <ns0:srgbClr val="157F89"/>
                </ns0:solidFill>
                <ns0:latin typeface="Calibri"/>
                <ns0:ea typeface="Calibri"/>
                <ns0:cs typeface="Calibri"/>
              </ns0:rPr>
              <ns0:t>Learned component</ns0:t>
            </ns0:r>
            <ns0:endParaRPr lang="en-US" sz="1400"/>
          </ns0:p>
        </ns0:txBody>
      </ns0:sp>
      <ns0:sp>
        <ns0:nvSpPr>
          <ns0:cNvPr id="29" name="Panel 29"/>
          <ns0:cNvSpPr/>
          <ns0:nvPr/>
        </ns0:nvSpPr>
        <ns0:spPr>
          <ns0:xfrm xmlns:ns0="http://schemas.openxmlformats.org/drawingml/2006/main">
            <ns0:off x="548640" y="3831336"/>
            <ns0:ext cx="5422392" cy="196596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0" name="Panel 30"/>
          <ns0:cNvSpPr/>
          <ns0:nvPr/>
        </ns0:nvSpPr>
        <ns0:spPr>
          <ns0:xfrm xmlns:ns0="http://schemas.openxmlformats.org/drawingml/2006/main">
            <ns0:off x="6199632" y="3831336"/>
            <ns0:ext cx="5422392" cy="196596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1" name="Text 31"/>
          <ns0:cNvSpPr/>
          <ns0:nvPr/>
        </ns0:nvSpPr>
        <ns0:spPr>
          <ns0:xfrm xmlns:ns0="http://schemas.openxmlformats.org/drawingml/2006/main">
            <ns0:off x="777240" y="4041648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Euler: reconstruct characteristic fluxes</ns0:t>
            </ns0:r>
            <ns0:endParaRPr lang="en-US" sz="1900"/>
          </ns0:p>
        </ns0:txBody>
      </ns0:sp>
      <ns0:pic>
        <ns0:nvPicPr>
          <ns0:cNvPr id="32" name="Equation: W=L U,\qquad G^{\pm}=\frac{1}{2}L\left[F(U)\pm\alpha U\right] 32" descr="Equation: W=L U,\qquad G^{\pm}=\frac{1}{2}L\left[F(U)\pm\alpha U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4614974"/>
            <ns0:ext cx="4302992" cy="45354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33" name="Equation: \hat F_{i+1/2}=R(\hat G^+_{i+1/2}+\hat G^-_{i+1/2}),\quad L=R^{-1} 33" descr="Equation: \hat F_{i+1/2}=R(\hat G^+_{i+1/2}+\hat G^-_{i+1/2}),\quad L=R^{-1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5210891"/>
            <ns0:ext cx="4767237" cy="468721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34" name="Text 34"/>
          <ns0:cNvSpPr/>
          <ns0:nvPr/>
        </ns0:nvSpPr>
        <ns0:spPr>
          <ns0:xfrm xmlns:ns0="http://schemas.openxmlformats.org/drawingml/2006/main">
            <ns0:off x="6428232" y="4041648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Training: backpropagate physical error</ns0:t>
            </ns0:r>
            <ns0:endParaRPr lang="en-US" sz="1900"/>
          </ns0:p>
        </ns0:txBody>
      </ns0:sp>
      <ns0:pic>
        <ns0:nvPicPr>
          <ns0:cNvPr id="35" name="Equation: \theta\leftarrow\mathrm{Adam}\!\left(\theta,\nabla_{\theta}\mathcal{L}\right) 35" descr="Equation: \theta\leftarrow\mathrm{Adam}\!\left(\theta,\nabla_{\theta}\mathcal{L}\right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28232" y="4702610"/>
            <ns0:ext cx="2652801" cy="36971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36" name="Text 36"/>
          <ns0:cNvSpPr/>
          <ns0:nvPr/>
        </ns0:nvSpPr>
        <ns0:spPr>
          <ns0:xfrm xmlns:ns0="http://schemas.openxmlformats.org/drawingml/2006/main">
            <ns0:off x="6428232" y="5294376"/>
            <ns0:ext cx="4901184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Reference → loss → gradient through every step</ns0:t>
            </ns0:r>
            <ns0:endParaRPr lang="en-US" sz="150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→ update the neural reconstruction parameters.</ns0:t>
            </ns0:r>
            <ns0:endParaRPr lang="en-US" sz="1500"/>
          </ns0:p>
        </ns0:txBody>
      </ns0:sp>
      <ns0:sp>
        <ns0:nvSpPr>
          <ns0:cNvPr id="37" name="Text 37"/>
          <ns0:cNvSpPr/>
          <ns0:nvPr/>
        </ns0:nvSpPr>
        <ns0:spPr>
          <ns0:xfrm xmlns:ns0="http://schemas.openxmlformats.org/drawingml/2006/main">
            <ns0:off x="667512" y="6071616"/>
            <ns0:ext cx="10899648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7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Scalar implementation: reconstruct states before Lax–Friedrichs flux evaluation. Euler: split characteristic fluxes before reconstruction.</ns0:t>
            </ns0:r>
            <ns0:endParaRPr lang="en-US" sz="1170"/>
          </ns0:p>
        </ns0:txBody>
      </ns0:sp>
    </ns0:spTree>
  </ns0:cSld>
  <ns0:clrMapOvr>
    <ns0:masterClrMapping xmlns:ns0="http://schemas.openxmlformats.org/drawingml/2006/main"/>
  </ns0:clrMapOvr>
</ns0:sld>
</file>

<file path=ppt/slides/slide13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D9582B"/>
                </ns0:solidFill>
                <ns0:latin typeface="Calibri"/>
                <ns0:ea typeface="Calibri"/>
                <ns0:cs typeface="Calibri"/>
              </ns0:rPr>
              <ns0:t>MATHEMATICAL BACKUP · RECONSTRUCTION DETAILS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Fifth-order reconstruction: candidates and TENO sensor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CE4E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13 / 13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618488"/>
            <ns0:ext cx="5541264" cy="409651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3F6F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6291072" y="1618488"/>
            <ns0:ext cx="5349240" cy="409651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ECF6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95528" y="1828800"/>
            <ns0:ext cx="5029200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Three third-order candidate polynomials</ns0:t>
            </ns0:r>
            <ns0:endParaRPr lang="en-US" sz="1900"/>
          </ns0:p>
        </ns0:txBody>
      </ns0:sp>
      <ns0:pic>
        <ns0:nvPicPr>
          <ns0:cNvPr id="12" name="Equation: q_0=\frac{1}{3}f_{i-2}-\frac{7}{6}f_{i-1}+\frac{11}{6}f_i 12" descr="Equation: q_0=\frac{1}{3}f_{i-2}-\frac{7}{6}f_{i-1}+\frac{11}{6}f_i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95528" y="2639788"/>
            <ns0:ext cx="3476965" cy="49943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3" name="Equation: q_1=-\frac{1}{6}f_{i-1}+\frac{5}{6}f_i+\frac{1}{3}f_{i+1} 13" descr="Equation: q_1=-\frac{1}{6}f_{i-1}+\frac{5}{6}f_i+\frac{1}{3}f_{i+1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95528" y="3588897"/>
            <ns0:ext cx="3579337" cy="50316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4" name="Equation: q_2=\frac{1}{3}f_i+\frac{5}{6}f_{i+1}-\frac{1}{6}f_{i+2} 14" descr="Equation: q_2=\frac{1}{3}f_i+\frac{5}{6}f_{i+1}-\frac{1}{6}f_{i+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95528" y="4539962"/>
            <ns0:ext cx="3318956" cy="5029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795528" y="5349240"/>
            <ns0:ext cx="498348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Optimal linear weights: d = (0.1, 0.6, 0.3).</ns0:t>
            </ns0:r>
            <ns0:endParaRPr lang="en-US" sz="160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6537960" y="1828800"/>
            <ns0:ext cx="485546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172D45"/>
                </ns0:solidFill>
                <ns0:latin typeface="Calibri"/>
                <ns0:ea typeface="Calibri"/>
                <ns0:cs typeface="Calibri"/>
              </ns0:rPr>
              <ns0:t>TENO smoothness and scale separation</ns0:t>
            </ns0:r>
            <ns0:endParaRPr lang="en-US" sz="1900"/>
          </ns0:p>
        </ns0:txBody>
      </ns0:sp>
      <ns0:pic>
        <ns0:nvPicPr>
          <ns0:cNvPr id="17" name="Equation: \tau_5=|\beta_0-\beta_2| 17" descr="Equation: \tau_5=|\beta_0-\beta_2|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537960" y="2514866"/>
            <ns0:ext cx="2031915" cy="39265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8" name="Equation: \gamma_k=\left(1+\frac{\tau_5}{\beta_k+\varepsilon}\right)^6 18" descr="Equation: \gamma_k=\left(1+\frac{\tau_5}{\beta_k+\varepsilon}\right)^6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6="http://schemas.openxmlformats.org/officeDocument/2006/relationships" ns6:embed="rId30">
            <ns0:extLst>
              <ns0:ext uri="{96DAC541-7B7A-43D3-8B79-37D633B846F1}">
                <ns0:svgBlip xmlns:ns0="http://schemas.microsoft.com/office/drawing/2016/SVG/main" ns6:embed="rId3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537960" y="3246440"/>
            <ns0:ext cx="2454160" cy="57543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9" name="Equation: \chi_k=\gamma_k/\|\gamma\|_1,\qquad\delta_k=\mathbf{1}[\chi_k\geq C_T] 19" descr="Equation: \chi_k=\gamma_k/\|\gamma\|_1,\qquad\delta_k=\mathbf{1}[\chi_k\geq C_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7="http://schemas.openxmlformats.org/officeDocument/2006/relationships" ns7:embed="rId32">
            <ns0:extLst>
              <ns0:ext uri="{96DAC541-7B7A-43D3-8B79-37D633B846F1}">
                <ns0:svgBlip xmlns:ns0="http://schemas.microsoft.com/office/drawing/2016/SVG/main" ns7:embed="rId3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537960" y="4274811"/>
            <ns0:ext cx="4126451" cy="32005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0" name="Equation: \varepsilon=10^{-40},\qquad C_T=10^{-5} 20" descr="Equation: \varepsilon=10^{-40},\qquad C_T=10^{-5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8="http://schemas.openxmlformats.org/officeDocument/2006/relationships" ns8:embed="rId34">
            <ns0:extLst>
              <ns0:ext uri="{96DAC541-7B7A-43D3-8B79-37D633B846F1}">
                <ns0:svgBlip xmlns:ns0="http://schemas.microsoft.com/office/drawing/2016/SVG/main" ns8:embed="rId3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537960" y="5057333"/>
            <ns0:ext cx="3449174" cy="37350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676656" y="5916168"/>
            <ns0:ext cx="10863072" cy="4480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βₖ are the Jiang–Shu smoothness indicators. NN-TENO5 learns candidate decisions with the same polynomials.</ns0:t>
            </ns0:r>
            <ns0:endParaRPr lang="en-US" sz="140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26478"/>
                </ns0:solidFill>
                <ns0:latin typeface="Calibri"/>
                <ns0:ea typeface="Calibri"/>
                <ns0:cs typeface="Calibri"/>
              </ns0:rPr>
              <ns0:t>If every candidate is rejected, return the center value; otherwise normalize the retained weights.</ns0:t>
            </ns0:r>
            <ns0:endParaRPr lang="en-US" sz="1400"/>
          </ns0:p>
        </ns0:txBody>
      </ns0:sp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Shock-Capturing Numerical Schemes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