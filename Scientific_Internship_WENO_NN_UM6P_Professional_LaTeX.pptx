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9" r:id="rIdProfessional14"/>
    <p:sldId id="259" r:id="rId10"/>
    <p:sldId id="260" r:id="rId11"/>
    <p:sldId id="274" r:id="rIdProfessional19"/>
    <p:sldId id="261" r:id="rId12"/>
    <p:sldId id="270" r:id="rIdProfessional15"/>
    <p:sldId id="262" r:id="rId13"/>
    <p:sldId id="263" r:id="rId14"/>
    <p:sldId id="264" r:id="rId15"/>
    <p:sldId id="271" r:id="rIdProfessional16"/>
    <p:sldId id="265" r:id="rId16"/>
    <p:sldId id="273" r:id="rIdProfessional18"/>
    <p:sldId id="272" r:id="rIdProfessional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Professional14" Type="http://schemas.openxmlformats.org/officeDocument/2006/relationships/slide" Target="slides/slide14.xml"/><Relationship Id="rIdProfessional15" Type="http://schemas.openxmlformats.org/officeDocument/2006/relationships/slide" Target="slides/slide15.xml"/><Relationship Id="rIdProfessional16" Type="http://schemas.openxmlformats.org/officeDocument/2006/relationships/slide" Target="slides/slide16.xml"/><Relationship Id="rIdProfessional17" Type="http://schemas.openxmlformats.org/officeDocument/2006/relationships/slide" Target="slides/slide17.xml"/><Relationship Id="rIdProfessional18" Type="http://schemas.openxmlformats.org/officeDocument/2006/relationships/slide" Target="slides/slide18.xml"/><Relationship Id="rIdProfessional19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01.png"/><Relationship Id="rId22" Type="http://schemas.openxmlformats.org/officeDocument/2006/relationships/image" Target="../media/refined_002.png"/><Relationship Id="rId23" Type="http://schemas.openxmlformats.org/officeDocument/2006/relationships/image" Target="../media/refined_003.png"/><Relationship Id="rId24" Type="http://schemas.openxmlformats.org/officeDocument/2006/relationships/image" Target="../media/refined_00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92.png"/><Relationship Id="rId22" Type="http://schemas.openxmlformats.org/officeDocument/2006/relationships/image" Target="../media/refined_09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77.png"/><Relationship Id="rId22" Type="http://schemas.openxmlformats.org/officeDocument/2006/relationships/image" Target="../media/refined_078.png"/><Relationship Id="rId23" Type="http://schemas.openxmlformats.org/officeDocument/2006/relationships/image" Target="../media/refined_07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28.png"/><Relationship Id="rId22" Type="http://schemas.openxmlformats.org/officeDocument/2006/relationships/image" Target="../media/refined_029.png"/><Relationship Id="rId23" Type="http://schemas.openxmlformats.org/officeDocument/2006/relationships/image" Target="../media/refined_030.svg"/><Relationship Id="rId24" Type="http://schemas.openxmlformats.org/officeDocument/2006/relationships/image" Target="../media/refined_031.png"/><Relationship Id="rId25" Type="http://schemas.openxmlformats.org/officeDocument/2006/relationships/image" Target="../media/refined_032.svg"/><Relationship Id="rId26" Type="http://schemas.openxmlformats.org/officeDocument/2006/relationships/image" Target="../media/refined_033.png"/><Relationship Id="rId27" Type="http://schemas.openxmlformats.org/officeDocument/2006/relationships/image" Target="../media/refined_034.svg"/><Relationship Id="rId28" Type="http://schemas.openxmlformats.org/officeDocument/2006/relationships/image" Target="../media/refined_035.png"/><Relationship Id="rId29" Type="http://schemas.openxmlformats.org/officeDocument/2006/relationships/image" Target="../media/refined_036.svg"/><Relationship Id="rId30" Type="http://schemas.openxmlformats.org/officeDocument/2006/relationships/image" Target="../media/refined_037.png"/><Relationship Id="rId31" Type="http://schemas.openxmlformats.org/officeDocument/2006/relationships/image" Target="../media/refined_038.svg"/><Relationship Id="rId32" Type="http://schemas.openxmlformats.org/officeDocument/2006/relationships/image" Target="../media/refined_039.png"/><Relationship Id="rId33" Type="http://schemas.openxmlformats.org/officeDocument/2006/relationships/image" Target="../media/refined_040.svg"/><Relationship Id="rId34" Type="http://schemas.openxmlformats.org/officeDocument/2006/relationships/image" Target="../media/refined_041.png"/><Relationship Id="rId35" Type="http://schemas.openxmlformats.org/officeDocument/2006/relationships/image" Target="../media/refined_042.svg"/><Relationship Id="rId36" Type="http://schemas.openxmlformats.org/officeDocument/2006/relationships/image" Target="../media/refined_043.png"/><Relationship Id="rId37" Type="http://schemas.openxmlformats.org/officeDocument/2006/relationships/image" Target="../media/refined_044.svg"/><Relationship Id="rId38" Type="http://schemas.openxmlformats.org/officeDocument/2006/relationships/image" Target="../media/refined_045.png"/><Relationship Id="rId39" Type="http://schemas.openxmlformats.org/officeDocument/2006/relationships/image" Target="../media/refined_046.svg"/><Relationship Id="rId40" Type="http://schemas.openxmlformats.org/officeDocument/2006/relationships/image" Target="../media/refined_047.png"/><Relationship Id="rId41" Type="http://schemas.openxmlformats.org/officeDocument/2006/relationships/image" Target="../media/refined_04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94.png"/><Relationship Id="rId22" Type="http://schemas.openxmlformats.org/officeDocument/2006/relationships/image" Target="../media/refined_095.png"/><Relationship Id="rId23" Type="http://schemas.openxmlformats.org/officeDocument/2006/relationships/image" Target="../media/refined_096.svg"/><Relationship Id="rId24" Type="http://schemas.openxmlformats.org/officeDocument/2006/relationships/image" Target="../media/refined_097.png"/><Relationship Id="rId25" Type="http://schemas.openxmlformats.org/officeDocument/2006/relationships/image" Target="../media/refined_098.svg"/><Relationship Id="rId26" Type="http://schemas.openxmlformats.org/officeDocument/2006/relationships/image" Target="../media/refined_099.png"/><Relationship Id="rId27" Type="http://schemas.openxmlformats.org/officeDocument/2006/relationships/image" Target="../media/refined_100.svg"/><Relationship Id="rId28" Type="http://schemas.openxmlformats.org/officeDocument/2006/relationships/image" Target="../media/refined_101.png"/><Relationship Id="rId29" Type="http://schemas.openxmlformats.org/officeDocument/2006/relationships/image" Target="../media/refined_10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03.png"/><Relationship Id="rId22" Type="http://schemas.openxmlformats.org/officeDocument/2006/relationships/image" Target="../media/refined_104.png"/><Relationship Id="rId23" Type="http://schemas.openxmlformats.org/officeDocument/2006/relationships/image" Target="../media/refined_10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0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09.png"/><Relationship Id="rId22" Type="http://schemas.openxmlformats.org/officeDocument/2006/relationships/image" Target="../media/refined_110.png"/><Relationship Id="rId23" Type="http://schemas.openxmlformats.org/officeDocument/2006/relationships/image" Target="../media/refined_1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12.png"/><Relationship Id="rId22" Type="http://schemas.openxmlformats.org/officeDocument/2006/relationships/image" Target="../media/refined_113.png"/><Relationship Id="rId23" Type="http://schemas.openxmlformats.org/officeDocument/2006/relationships/image" Target="../media/refined_1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80.png"/><Relationship Id="rId22" Type="http://schemas.openxmlformats.org/officeDocument/2006/relationships/image" Target="../media/refined_081.png"/><Relationship Id="rId23" Type="http://schemas.openxmlformats.org/officeDocument/2006/relationships/image" Target="../media/refined_082.svg"/><Relationship Id="rId24" Type="http://schemas.openxmlformats.org/officeDocument/2006/relationships/image" Target="../media/refined_083.png"/><Relationship Id="rId25" Type="http://schemas.openxmlformats.org/officeDocument/2006/relationships/image" Target="../media/refined_08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06.png"/><Relationship Id="rId22" Type="http://schemas.openxmlformats.org/officeDocument/2006/relationships/image" Target="../media/refined_10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15.png"/><Relationship Id="rId22" Type="http://schemas.openxmlformats.org/officeDocument/2006/relationships/image" Target="../media/refined_116.png"/><Relationship Id="rId23" Type="http://schemas.openxmlformats.org/officeDocument/2006/relationships/image" Target="../media/refined_1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09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19.png"/><Relationship Id="rId22" Type="http://schemas.openxmlformats.org/officeDocument/2006/relationships/hyperlink" Target="https://doi.org/10.1007/s00162-020-00531-1" TargetMode="External"/><Relationship Id="rId23" Type="http://schemas.openxmlformats.org/officeDocument/2006/relationships/hyperlink" Target="https://doi.org/10.1016/j.jcp.2015.10.037" TargetMode="External"/><Relationship Id="rId24" Type="http://schemas.openxmlformats.org/officeDocument/2006/relationships/hyperlink" Target="https://arxiv.org/abs/2207.08500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refined_120.png"/><Relationship Id="rId22" Type="http://schemas.openxmlformats.org/officeDocument/2006/relationships/image" Target="../media/refined_121.png"/><Relationship Id="rId23" Type="http://schemas.openxmlformats.org/officeDocument/2006/relationships/image" Target="../media/refined_122.svg"/><Relationship Id="rId24" Type="http://schemas.openxmlformats.org/officeDocument/2006/relationships/image" Target="../media/refined_123.png"/><Relationship Id="rId25" Type="http://schemas.openxmlformats.org/officeDocument/2006/relationships/image" Target="../media/refined_124.svg"/><Relationship Id="rId26" Type="http://schemas.openxmlformats.org/officeDocument/2006/relationships/image" Target="../media/refined_125.png"/><Relationship Id="rId27" Type="http://schemas.openxmlformats.org/officeDocument/2006/relationships/image" Target="../media/refined_126.svg"/><Relationship Id="rId28" Type="http://schemas.openxmlformats.org/officeDocument/2006/relationships/image" Target="../media/refined_127.png"/><Relationship Id="rId29" Type="http://schemas.openxmlformats.org/officeDocument/2006/relationships/image" Target="../media/refined_128.svg"/><Relationship Id="rId30" Type="http://schemas.openxmlformats.org/officeDocument/2006/relationships/image" Target="../media/refined_129.png"/><Relationship Id="rId31" Type="http://schemas.openxmlformats.org/officeDocument/2006/relationships/image" Target="../media/refined_130.svg"/><Relationship Id="rId32" Type="http://schemas.openxmlformats.org/officeDocument/2006/relationships/image" Target="../media/refined_131.png"/><Relationship Id="rId33" Type="http://schemas.openxmlformats.org/officeDocument/2006/relationships/image" Target="../media/refined_132.svg"/></Relationships>
</file>

<file path=ppt/slides/slide1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pic>
        <ns0:nvPicPr>
          <ns0:cNvPr id="2" name="UM6P College of Computing logo 2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94360" y="438912"/>
            <ns0:ext cx="2534003" cy="52120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3" name="Panel 3"/>
          <ns0:cNvSpPr/>
          <ns0:nvPr/>
        </ns0:nvSpPr>
        <ns0:spPr>
          <ns0:xfrm xmlns:ns0="http://schemas.openxmlformats.org/drawingml/2006/main">
            <ns0:off x="7754112" y="0"/>
            <ns0:ext cx="4437888" cy="685800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4" name="Text 4"/>
          <ns0:cNvSpPr/>
          <ns0:nvPr/>
        </ns0:nvSpPr>
        <ns0:spPr>
          <ns0:xfrm xmlns:ns0="http://schemas.openxmlformats.org/drawingml/2006/main">
            <ns0:off x="594360" y="1600200"/>
            <ns0:ext cx="6766560" cy="19659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36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Machine Learning for</ns0:t>
            </ns0:r>
            <ns0:endParaRPr lang="en-US" sz="3600"/>
          </ns0:p>
          <ns0:p xmlns:ns0="http://schemas.openxmlformats.org/drawingml/2006/main">
            <ns0:pPr algn="l" marL="0" marR="0" indent="0">
              <ns0:lnSpc>
                <ns0:spcPct val="10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36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Shock-Capturing</ns0:t>
            </ns0:r>
            <ns0:endParaRPr lang="en-US" sz="3600"/>
          </ns0:p>
          <ns0:p xmlns:ns0="http://schemas.openxmlformats.org/drawingml/2006/main">
            <ns0:pPr algn="l" marL="0" marR="0" indent="0">
              <ns0:lnSpc>
                <ns0:spcPct val="10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36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Numerical Schemes</ns0:t>
            </ns0:r>
            <ns0:endParaRPr lang="en-US" sz="3600"/>
          </ns0:p>
        </ns0:txBody>
      </ns0:sp>
      <ns0:sp>
        <ns0:nvSpPr>
          <ns0:cNvPr id="5" name="Text 5"/>
          <ns0:cNvSpPr/>
          <ns0:nvPr/>
        </ns0:nvSpPr>
        <ns0:spPr>
          <ns0:xfrm xmlns:ns0="http://schemas.openxmlformats.org/drawingml/2006/main">
            <ns0:off x="621792" y="3749040"/>
            <ns0:ext cx="6492240" cy="7589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Learning reconstruction decisions for</ns0:t>
            </ns0:r>
            <ns0:endParaRPr lang="en-US" sz="2000"/>
          </ns0:p>
          <ns0:p xmlns:ns0="http://schemas.openxmlformats.org/drawingml/2006/main">
            <ns0:pPr algn="l" marL="0" marR="0" indent="0">
              <ns0:lnSpc>
                <ns0:spcPct val="113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1D hyperbolic conservation laws</ns0:t>
            </ns0:r>
            <ns0:endParaRPr lang="en-US" sz="2000"/>
          </ns0:p>
        </ns0:txBody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621792" y="4754880"/>
            <ns0:ext cx="6446520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WENO-NN   /   NN-TENO5   /   DIFFERENTIABLE CFD</ns0:t>
            </ns0:r>
            <ns0:endParaRPr lang="en-US" sz="1200"/>
          </ns0:p>
        </ns0:txBody>
      </ns0:sp>
      <ns0:sp>
        <ns0:nvSpPr>
          <ns0:cNvPr id="7" name="Panel 7"/>
          <ns0:cNvSpPr/>
          <ns0:nvPr/>
        </ns0:nvSpPr>
        <ns0:spPr>
          <ns0:xfrm xmlns:ns0="http://schemas.openxmlformats.org/drawingml/2006/main">
            <ns0:off x="621792" y="5349240"/>
            <ns0:ext cx="6355080" cy="15545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8" name="Text 8"/>
          <ns0:cNvSpPr/>
          <ns0:nvPr/>
        </ns0:nvSpPr>
        <ns0:spPr>
          <ns0:xfrm xmlns:ns0="http://schemas.openxmlformats.org/drawingml/2006/main">
            <ns0:off x="621792" y="5568696"/>
            <ns0:ext cx="640080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Yasser Baouzil</ns0:t>
            </ns0:r>
            <ns0:endParaRPr lang="en-US" sz="2200"/>
          </ns0:p>
        </ns0:txBody>
      </ns0:sp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621792" y="5961888"/>
            <ns0:ext cx="640080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Supervisor: Radouan Boukharfane</ns0:t>
            </ns0:r>
            <ns0:endParaRPr lang="en-US" sz="1600"/>
          </ns0:p>
        </ns0:txBody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621792" y="6400800"/>
            <ns0:ext cx="6400800" cy="2103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UM6P  ·  College of Computing</ns0:t>
            </ns0:r>
            <ns0:endParaRPr lang="en-US" sz="1100"/>
          </ns0:p>
        </ns0:txBody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8101584" y="566928"/>
            <ns0:ext cx="368503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E8E8E8"/>
                </ns0:solidFill>
                <ns0:latin typeface="Arial"/>
                <ns0:ea typeface="Arial"/>
                <ns0:cs typeface="Arial"/>
              </ns0:rPr>
              <ns0:t>PHYSICS × NUMERICS × LEARNING</ns0:t>
            </ns0:r>
            <ns0:endParaRPr lang="en-US" sz="1050"/>
          </ns0:p>
        </ns0:txBody>
      </ns0:sp>
      <ns0:pic>
        <ns0:nvPicPr>
          <ns0:cNvPr id="12" name="Original schlieren photograph of shock waves 12" descr="Original schlieren photograph of shock waves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101584" y="1282379"/>
            <ns0:ext cx="3712464" cy="277533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8119872" y="4334256"/>
            <ns0:ext cx="3630168" cy="7589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FFFFFF"/>
                </ns0:solidFill>
                <ns0:latin typeface="Arial"/>
                <ns0:ea typeface="Arial"/>
                <ns0:cs typeface="Arial"/>
              </ns0:rPr>
              <ns0:t>Capturing sharp fronts</ns0:t>
            </ns0:r>
            <ns0:endParaRPr lang="en-US" sz="220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FFFFFF"/>
                </ns0:solidFill>
                <ns0:latin typeface="Arial"/>
                <ns0:ea typeface="Arial"/>
                <ns0:cs typeface="Arial"/>
              </ns0:rPr>
              <ns0:t>without spurious oscillations</ns0:t>
            </ns0:r>
            <ns0:endParaRPr lang="en-US" sz="2200"/>
          </ns0:p>
        </ns0:txBody>
      </ns0:sp>
      <ns0:pic>
        <ns0:nvPicPr>
          <ns0:cNvPr id="14" name="Equation: \frac{\partial u}{\partial t}+\frac{\partial f(u)}{\partial x}=0 14" descr="Equation: \frac{\partial u}{\partial t}+\frac{\partial f(u)}{\partial x}=0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3">
            <ns0:extLst>
              <ns0:ext uri="{96DAC541-7B7A-43D3-8B79-37D633B846F1}">
                <ns0:svgBlip xmlns:ns0="http://schemas.microsoft.com/office/drawing/2016/SVG/main" ns3:embed="rId24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119872" y="5413248"/>
            <ns0:ext cx="1939643" cy="594360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</ns0:spTree>
  </ns0:cSld>
  <ns0:clrMapOvr>
    <ns0:masterClrMapping xmlns:ns0="http://schemas.openxmlformats.org/drawingml/2006/main"/>
  </ns0:clrMapOvr>
</ns0:sld>
</file>

<file path=ppt/slides/slide2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MOTIVATION · RESEARCH QUESTION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Can learned reconstruction improve TENO5?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02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9" name="Original shock-wave photograph 9" descr="Original shock-wave photograph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82544" y="1554480"/>
            <ns0:ext cx="5418592" cy="405079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576072" y="5660136"/>
            <ns0:ext cx="5458968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Sharp fronts require both accuracy and control of oscillations.</ns0:t>
            </ns0:r>
            <ns0:endParaRPr lang="en-US" sz="1300"/>
          </ns0:p>
        </ns0:txBody>
      </ns0:sp>
      <ns0:sp>
        <ns0:nvSpPr>
          <ns0:cNvPr id="11" name="Panel 11"/>
          <ns0:cNvSpPr/>
          <ns0:nvPr/>
        </ns0:nvSpPr>
        <ns0:spPr>
          <ns0:xfrm xmlns:ns0="http://schemas.openxmlformats.org/drawingml/2006/main">
            <ns0:off x="6355080" y="1554480"/>
            <ns0:ext cx="5276088" cy="186537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6583680" y="1773936"/>
            <ns0:ext cx="4800600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Research question</ns0:t>
            </ns0:r>
            <ns0:endParaRPr lang="en-US" sz="2100"/>
          </ns0:p>
        </ns0:txBody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583680" y="2304288"/>
            <ns0:ext cx="4800600" cy="9144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Can a small learned correction reduce</ns0:t>
            </ns0:r>
            <ns0:endParaRPr lang="en-US" sz="2000"/>
          </ns0:p>
          <ns0:p xmlns:ns0="http://schemas.openxmlformats.org/drawingml/2006/main">
            <ns0:pPr algn="l" marL="0" marR="0" indent="0">
              <ns0:lnSpc>
                <ns0:spcPct val="11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solution error relative to TENO5,</ns0:t>
            </ns0:r>
            <ns0:endParaRPr lang="en-US" sz="2000"/>
          </ns0:p>
          <ns0:p xmlns:ns0="http://schemas.openxmlformats.org/drawingml/2006/main">
            <ns0:pPr algn="l" marL="0" marR="0" indent="0">
              <ns0:lnSpc>
                <ns0:spcPct val="11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while keeping Euler rollouts stable?</ns0:t>
            </ns0:r>
            <ns0:endParaRPr lang="en-US" sz="200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419088" y="3694176"/>
            <ns0:ext cx="5120640" cy="31089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What changes?</ns0:t>
            </ns0:r>
            <ns0:endParaRPr lang="en-US" sz="18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419088" y="4059936"/>
            <ns0:ext cx="5148072" cy="4389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Candidate decisions and a learned mixing coefficient.</ns0:t>
            </ns0:r>
            <ns0:endParaRPr lang="en-US" sz="160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6419088" y="4507992"/>
            <ns0:ext cx="5120640" cy="31089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What stays?</ns0:t>
            </ns0:r>
            <ns0:endParaRPr lang="en-US" sz="1800"/>
          </ns0:p>
        </ns0:txBody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6419088" y="4873752"/>
            <ns0:ext cx="5148072" cy="4389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conservative flux update and SSPRK3 solver.</ns0:t>
            </ns0:r>
            <ns0:endParaRPr lang="en-US" sz="16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419088" y="5321808"/>
            <ns0:ext cx="5120640" cy="31089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How is it tested?</ns0:t>
            </ns0:r>
            <ns0:endParaRPr lang="en-US" sz="18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6419088" y="5687568"/>
            <ns0:ext cx="5148072" cy="4389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Four 1D benchmarks against physical references.</ns0:t>
            </ns0:r>
            <ns0:endParaRPr lang="en-US" sz="1600"/>
          </ns0:p>
        </ns0:txBody>
      </ns0:sp>
      <ns0:sp>
        <ns0:nvSpPr>
          <ns0:cNvPr id="20" name="Panel 20"/>
          <ns0:cNvSpPr/>
          <ns0:nvPr/>
        </ns0:nvSpPr>
        <ns0:spPr>
          <ns0:xfrm xmlns:ns0="http://schemas.openxmlformats.org/drawingml/2006/main">
            <ns0:off x="548640" y="6016752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704088" y="6007608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Aim: improve reconstruction inside the solver—not replace the physical equations.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3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NUMERICAL SOLVER · COMPLETE WORKFLOW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The solver follows a conservative numerical path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03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94360" y="1545336"/>
            <ns0:ext cx="10963656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Forward numerical path</ns0:t>
            </ns0:r>
            <ns0:endParaRPr lang="en-US" sz="20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1965960"/>
            <ns0:ext cx="1664208" cy="7680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21792" y="213055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State +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local stencil</ns0:t>
            </ns0:r>
            <ns0:endParaRPr lang="en-US" sz="170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2212848" y="2167128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3" name="Panel 13"/>
          <ns0:cNvSpPr/>
          <ns0:nvPr/>
        </ns0:nvSpPr>
        <ns0:spPr>
          <ns0:xfrm xmlns:ns0="http://schemas.openxmlformats.org/drawingml/2006/main">
            <ns0:off x="2429561" y="1965960"/>
            <ns0:ext cx="1664208" cy="7680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2502713" y="213055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Scalar / Euler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setup</ns0:t>
            </ns0:r>
            <ns0:endParaRPr lang="en-US" sz="17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4093769" y="2167128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4310482" y="1965960"/>
            <ns0:ext cx="1664208" cy="7680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4383634" y="213055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WENO / TENO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or NN selector</ns0:t>
            </ns0:r>
            <ns0:endParaRPr lang="en-US" sz="17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5974690" y="2167128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9" name="Panel 19"/>
          <ns0:cNvSpPr/>
          <ns0:nvPr/>
        </ns0:nvSpPr>
        <ns0:spPr>
          <ns0:xfrm xmlns:ns0="http://schemas.openxmlformats.org/drawingml/2006/main">
            <ns0:off x="6191402" y="1965960"/>
            <ns0:ext cx="1664208" cy="7680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264554" y="213055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Interface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flux</ns0:t>
            </ns0:r>
            <ns0:endParaRPr lang="en-US" sz="17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7855610" y="2167128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22" name="Panel 22"/>
          <ns0:cNvSpPr/>
          <ns0:nvPr/>
        </ns0:nvSpPr>
        <ns0:spPr>
          <ns0:xfrm xmlns:ns0="http://schemas.openxmlformats.org/drawingml/2006/main">
            <ns0:off x="8072323" y="1965960"/>
            <ns0:ext cx="1664208" cy="7680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8145475" y="213055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SSPRK3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step</ns0:t>
            </ns0:r>
            <ns0:endParaRPr lang="en-US" sz="170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9736531" y="2167128"/>
            <ns0:ext cx="214884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25" name="Panel 25"/>
          <ns0:cNvSpPr/>
          <ns0:nvPr/>
        </ns0:nvSpPr>
        <ns0:spPr>
          <ns0:xfrm xmlns:ns0="http://schemas.openxmlformats.org/drawingml/2006/main">
            <ns0:off x="9953244" y="1965960"/>
            <ns0:ext cx="1664208" cy="7680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10026396" y="2130552"/>
            <ns0:ext cx="1517904" cy="5486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K-step</ns0:t>
            </ns0:r>
            <ns0:endParaRPr lang="en-US" sz="1700"/>
          </ns0:p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rollout</ns0:t>
            </ns0:r>
            <ns0:endParaRPr lang="en-US" sz="1700"/>
          </ns0:p>
        </ns0:txBody>
      </ns0:sp>
      <ns0:sp>
        <ns0:nvSpPr>
          <ns0:cNvPr id="27" name="Panel 27"/>
          <ns0:cNvSpPr/>
          <ns0:nvPr/>
        </ns0:nvSpPr>
        <ns0:spPr>
          <ns0:xfrm xmlns:ns0="http://schemas.openxmlformats.org/drawingml/2006/main">
            <ns0:off x="4325112" y="2898648"/>
            <ns0:ext cx="1609344" cy="3657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8" name="Text 28"/>
          <ns0:cNvSpPr/>
          <ns0:nvPr/>
        </ns0:nvSpPr>
        <ns0:spPr>
          <ns0:xfrm xmlns:ns0="http://schemas.openxmlformats.org/drawingml/2006/main">
            <ns0:off x="3995928" y="3054096"/>
            <ns0:ext cx="237744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Learned component</ns0:t>
            </ns0:r>
            <ns0:endParaRPr lang="en-US" sz="1400"/>
          </ns0:p>
        </ns0:txBody>
      </ns0:sp>
      <ns0:sp>
        <ns0:nvSpPr>
          <ns0:cNvPr id="29" name="Panel 29"/>
          <ns0:cNvSpPr/>
          <ns0:nvPr/>
        </ns0:nvSpPr>
        <ns0:spPr>
          <ns0:xfrm xmlns:ns0="http://schemas.openxmlformats.org/drawingml/2006/main">
            <ns0:off x="548640" y="3602736"/>
            <ns0:ext cx="5422392" cy="218541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0" name="Panel 30"/>
          <ns0:cNvSpPr/>
          <ns0:nvPr/>
        </ns0:nvSpPr>
        <ns0:spPr>
          <ns0:xfrm xmlns:ns0="http://schemas.openxmlformats.org/drawingml/2006/main">
            <ns0:off x="6199632" y="3602736"/>
            <ns0:ext cx="5422392" cy="218541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1" name="Text 31"/>
          <ns0:cNvSpPr/>
          <ns0:nvPr/>
        </ns0:nvSpPr>
        <ns0:spPr>
          <ns0:xfrm xmlns:ns0="http://schemas.openxmlformats.org/drawingml/2006/main">
            <ns0:off x="777240" y="3849624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Conservation through shared fluxes</ns0:t>
            </ns0:r>
            <ns0:endParaRPr lang="en-US" sz="2000"/>
          </ns0:p>
        </ns0:txBody>
      </ns0:sp>
      <ns0:pic>
        <ns0:nvPicPr>
          <ns0:cNvPr id="32" name="Equation: \frac{d\bar u_i}{dt}=-\frac{\hat f_{i+1/2}-\hat f_{i-1/2}}{\Delta x} 32" descr="Equation: \frac{d\bar u_i}{dt}=-\frac{\hat f_{i+1/2}-\hat f_{i-1/2}}{\Delta x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4425696"/>
            <ns0:ext cx="2770790" cy="67665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33" name="Text 33"/>
          <ns0:cNvSpPr/>
          <ns0:nvPr/>
        </ns0:nvSpPr>
        <ns0:spPr>
          <ns0:xfrm xmlns:ns0="http://schemas.openxmlformats.org/drawingml/2006/main">
            <ns0:off x="777240" y="5367528"/>
            <ns0:ext cx="494690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Each cell changes by its incoming and outgoing flux.</ns0:t>
            </ns0:r>
            <ns0:endParaRPr lang="en-US" sz="1500"/>
          </ns0:p>
        </ns0:txBody>
      </ns0:sp>
      <ns0:sp>
        <ns0:nvSpPr>
          <ns0:cNvPr id="34" name="Text 34"/>
          <ns0:cNvSpPr/>
          <ns0:nvPr/>
        </ns0:nvSpPr>
        <ns0:spPr>
          <ns0:xfrm xmlns:ns0="http://schemas.openxmlformats.org/drawingml/2006/main">
            <ns0:off x="6428232" y="3849624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Follow the path in order</ns0:t>
            </ns0:r>
            <ns0:endParaRPr lang="en-US" sz="2000"/>
          </ns0:p>
        </ns0:txBody>
      </ns0:sp>
      <ns0:sp>
        <ns0:nvSpPr>
          <ns0:cNvPr id="35" name="Text 35"/>
          <ns0:cNvSpPr/>
          <ns0:nvPr/>
        </ns0:nvSpPr>
        <ns0:spPr>
          <ns0:xfrm xmlns:ns0="http://schemas.openxmlformats.org/drawingml/2006/main">
            <ns0:off x="6428232" y="4489704"/>
            <ns0:ext cx="4901184" cy="10607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3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Set up the physical problem.</ns0:t>
            </ns0:r>
            <ns0:endParaRPr lang="en-US" sz="1800"/>
          </ns0:p>
          <ns0:p xmlns:ns0="http://schemas.openxmlformats.org/drawingml/2006/main">
            <ns0:pPr algn="l" marL="0" marR="0" indent="0">
              <ns0:lnSpc>
                <ns0:spcPct val="13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Reconstruct the interface flux.</ns0:t>
            </ns0:r>
            <ns0:endParaRPr lang="en-US" sz="1800"/>
          </ns0:p>
          <ns0:p xmlns:ns0="http://schemas.openxmlformats.org/drawingml/2006/main">
            <ns0:pPr algn="l" marL="0" marR="0" indent="0">
              <ns0:lnSpc>
                <ns0:spcPct val="13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Advance with SSPRK3, then repeat K steps.</ns0:t>
            </ns0:r>
            <ns0:endParaRPr lang="en-US" sz="1800"/>
          </ns0:p>
        </ns0:txBody>
      </ns0:sp>
      <ns0:sp>
        <ns0:nvSpPr>
          <ns0:cNvPr id="36" name="Panel 36"/>
          <ns0:cNvSpPr/>
          <ns0:nvPr/>
        </ns0:nvSpPr>
        <ns0:spPr>
          <ns0:xfrm xmlns:ns0="http://schemas.openxmlformats.org/drawingml/2006/main">
            <ns0:off x="548640" y="6007608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7" name="Text 37"/>
          <ns0:cNvSpPr/>
          <ns0:nvPr/>
        </ns0:nvSpPr>
        <ns0:spPr>
          <ns0:xfrm xmlns:ns0="http://schemas.openxmlformats.org/drawingml/2006/main">
            <ns0:off x="704088" y="5998464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Detailed slides follow this path: physical setup → reconstruction → fluxes → time stepping.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4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CLASSICAL RECONSTRUCTION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WENO and TENO combine three local reconstructions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05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66928" y="1481328"/>
            <ns0:ext cx="10972800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Five stencil values → three third-order candidates → one interface flux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2340864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1" name="Equation: f_{i-2} 11" descr="Equation: f_{i-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551049" y="2082546"/>
            <ns0:ext cx="616263" cy="28803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2" name="Panel 12"/>
          <ns0:cNvSpPr/>
          <ns0:nvPr/>
        </ns0:nvSpPr>
        <ns0:spPr>
          <ns0:xfrm xmlns:ns0="http://schemas.openxmlformats.org/drawingml/2006/main">
            <ns0:off x="3831336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3" name="Equation: f_{i-1} 13" descr="Equation: f_{i-1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041521" y="2082546"/>
            <ns0:ext cx="616263" cy="28803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4" name="Panel 14"/>
          <ns0:cNvSpPr/>
          <ns0:nvPr/>
        </ns0:nvSpPr>
        <ns0:spPr>
          <ns0:xfrm xmlns:ns0="http://schemas.openxmlformats.org/drawingml/2006/main">
            <ns0:off x="5321808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5" name="Equation: f_i 15" descr="Equation: f_i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657914" y="2085213"/>
            <ns0:ext cx="370205" cy="28270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6812280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7" name="Equation: f_{i+1} 17" descr="Equation: f_{i+1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028370" y="2084963"/>
            <ns0:ext cx="610235" cy="28320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8" name="Panel 18"/>
          <ns0:cNvSpPr/>
          <ns0:nvPr/>
        </ns0:nvSpPr>
        <ns0:spPr>
          <ns0:xfrm xmlns:ns0="http://schemas.openxmlformats.org/drawingml/2006/main">
            <ns0:off x="8302752" y="1975104"/>
            <ns0:ext cx="1042416" cy="53949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19" name="Equation: f_{i+2} 19" descr="Equation: f_{i+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6="http://schemas.openxmlformats.org/officeDocument/2006/relationships" ns6:embed="rId30">
            <ns0:extLst>
              <ns0:ext uri="{96DAC541-7B7A-43D3-8B79-37D633B846F1}">
                <ns0:svgBlip xmlns:ns0="http://schemas.microsoft.com/office/drawing/2016/SVG/main" ns6:embed="rId3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518842" y="2084963"/>
            <ns0:ext cx="610235" cy="28320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0" name="Panel 20"/>
          <ns0:cNvSpPr/>
          <ns0:nvPr/>
        </ns0:nvSpPr>
        <ns0:spPr>
          <ns0:xfrm xmlns:ns0="http://schemas.openxmlformats.org/drawingml/2006/main">
            <ns0:off x="6588252" y="1874520"/>
            <ns0:ext cx="13716" cy="877824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1" name="Equation: i+\tfrac{1}{2} 21" descr="Equation: i+\tfrac{1}{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7="http://schemas.openxmlformats.org/officeDocument/2006/relationships" ns7:embed="rId32">
            <ns0:extLst>
              <ns0:ext uri="{96DAC541-7B7A-43D3-8B79-37D633B846F1}">
                <ns0:svgBlip xmlns:ns0="http://schemas.microsoft.com/office/drawing/2016/SVG/main" ns7:embed="rId3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341027" y="1755648"/>
            <ns0:ext cx="490801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2" name="Panel 22"/>
          <ns0:cNvSpPr/>
          <ns0:nvPr/>
        </ns0:nvSpPr>
        <ns0:spPr>
          <ns0:xfrm xmlns:ns0="http://schemas.openxmlformats.org/drawingml/2006/main">
            <ns0:off x="2542032" y="2724912"/>
            <ns0:ext cx="3621024" cy="2286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3" name="Equation: S_0 23" descr="Equation: S_0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8="http://schemas.openxmlformats.org/officeDocument/2006/relationships" ns8:embed="rId34">
            <ns0:extLst>
              <ns0:ext uri="{96DAC541-7B7A-43D3-8B79-37D633B846F1}">
                <ns0:svgBlip xmlns:ns0="http://schemas.microsoft.com/office/drawing/2016/SVG/main" ns8:embed="rId3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975104" y="2647569"/>
            <ns0:ext cx="296052" cy="172974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4" name="Panel 24"/>
          <ns0:cNvSpPr/>
          <ns0:nvPr/>
        </ns0:nvSpPr>
        <ns0:spPr>
          <ns0:xfrm xmlns:ns0="http://schemas.openxmlformats.org/drawingml/2006/main">
            <ns0:off x="4032504" y="2880360"/>
            <ns0:ext cx="3621024" cy="2286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595959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5" name="Equation: S_1 25" descr="Equation: S_1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9="http://schemas.openxmlformats.org/officeDocument/2006/relationships" ns9:embed="rId36">
            <ns0:extLst>
              <ns0:ext uri="{96DAC541-7B7A-43D3-8B79-37D633B846F1}">
                <ns0:svgBlip xmlns:ns0="http://schemas.microsoft.com/office/drawing/2016/SVG/main" ns9:embed="rId3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465576" y="2803017"/>
            <ns0:ext cx="296052" cy="172974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6" name="Panel 26"/>
          <ns0:cNvSpPr/>
          <ns0:nvPr/>
        </ns0:nvSpPr>
        <ns0:spPr>
          <ns0:xfrm xmlns:ns0="http://schemas.openxmlformats.org/drawingml/2006/main">
            <ns0:off x="5522976" y="3035808"/>
            <ns0:ext cx="3621024" cy="22860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27" name="Equation: S_2 27" descr="Equation: S_2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0="http://schemas.openxmlformats.org/officeDocument/2006/relationships" ns10:embed="rId38">
            <ns0:extLst>
              <ns0:ext uri="{96DAC541-7B7A-43D3-8B79-37D633B846F1}">
                <ns0:svgBlip xmlns:ns0="http://schemas.microsoft.com/office/drawing/2016/SVG/main" ns10:embed="rId3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956048" y="2958465"/>
            <ns0:ext cx="296052" cy="172974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8" name="Panel 28"/>
          <ns0:cNvSpPr/>
          <ns0:nvPr/>
        </ns0:nvSpPr>
        <ns0:spPr>
          <ns0:xfrm xmlns:ns0="http://schemas.openxmlformats.org/drawingml/2006/main">
            <ns0:off x="548640" y="3282696"/>
            <ns0:ext cx="3557016" cy="2404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9" name="Text 29"/>
          <ns0:cNvSpPr/>
          <ns0:nvPr/>
        </ns0:nvSpPr>
        <ns0:spPr>
          <ns0:xfrm xmlns:ns0="http://schemas.openxmlformats.org/drawingml/2006/main">
            <ns0:off x="758952" y="3483864"/>
            <ns0:ext cx="3136392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ENO selects</ns0:t>
            </ns0:r>
            <ns0:endParaRPr lang="en-US" sz="2100"/>
          </ns0:p>
        </ns0:txBody>
      </ns0:sp>
      <ns0:sp>
        <ns0:nvSpPr>
          <ns0:cNvPr id="30" name="Text 30"/>
          <ns0:cNvSpPr/>
          <ns0:nvPr/>
        </ns0:nvSpPr>
        <ns0:spPr>
          <ns0:xfrm xmlns:ns0="http://schemas.openxmlformats.org/drawingml/2006/main">
            <ns0:off x="758952" y="3931920"/>
            <ns0:ext cx="3136392" cy="5760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Choose the smoothest candidate.</ns0:t>
            </ns0:r>
            <ns0:endParaRPr lang="en-US" sz="1600"/>
          </ns0:p>
        </ns0:txBody>
      </ns0:sp>
      <ns0:sp>
        <ns0:nvSpPr>
          <ns0:cNvPr id="31" name="Panel 31"/>
          <ns0:cNvSpPr/>
          <ns0:nvPr/>
        </ns0:nvSpPr>
        <ns0:spPr>
          <ns0:xfrm xmlns:ns0="http://schemas.openxmlformats.org/drawingml/2006/main">
            <ns0:off x="4315968" y="3282696"/>
            <ns0:ext cx="3557016" cy="2404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2" name="Text 32"/>
          <ns0:cNvSpPr/>
          <ns0:nvPr/>
        </ns0:nvSpPr>
        <ns0:spPr>
          <ns0:xfrm xmlns:ns0="http://schemas.openxmlformats.org/drawingml/2006/main">
            <ns0:off x="4526280" y="3483864"/>
            <ns0:ext cx="3136392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WENO weights</ns0:t>
            </ns0:r>
            <ns0:endParaRPr lang="en-US" sz="2100"/>
          </ns0:p>
        </ns0:txBody>
      </ns0:sp>
      <ns0:sp>
        <ns0:nvSpPr>
          <ns0:cNvPr id="33" name="Text 33"/>
          <ns0:cNvSpPr/>
          <ns0:nvPr/>
        </ns0:nvSpPr>
        <ns0:spPr>
          <ns0:xfrm xmlns:ns0="http://schemas.openxmlformats.org/drawingml/2006/main">
            <ns0:off x="4526280" y="3931920"/>
            <ns0:ext cx="3136392" cy="5760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Reduce troubled candidates continuously.</ns0:t>
            </ns0:r>
            <ns0:endParaRPr lang="en-US" sz="1600"/>
          </ns0:p>
        </ns0:txBody>
      </ns0:sp>
      <ns0:sp>
        <ns0:nvSpPr>
          <ns0:cNvPr id="34" name="Panel 34"/>
          <ns0:cNvSpPr/>
          <ns0:nvPr/>
        </ns0:nvSpPr>
        <ns0:spPr>
          <ns0:xfrm xmlns:ns0="http://schemas.openxmlformats.org/drawingml/2006/main">
            <ns0:off x="8083296" y="3282696"/>
            <ns0:ext cx="3557016" cy="240487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5" name="Text 35"/>
          <ns0:cNvSpPr/>
          <ns0:nvPr/>
        </ns0:nvSpPr>
        <ns0:spPr>
          <ns0:xfrm xmlns:ns0="http://schemas.openxmlformats.org/drawingml/2006/main">
            <ns0:off x="8293608" y="3483864"/>
            <ns0:ext cx="3136392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TENO discards</ns0:t>
            </ns0:r>
            <ns0:endParaRPr lang="en-US" sz="2100"/>
          </ns0:p>
        </ns0:txBody>
      </ns0:sp>
      <ns0:sp>
        <ns0:nvSpPr>
          <ns0:cNvPr id="36" name="Text 36"/>
          <ns0:cNvSpPr/>
          <ns0:nvPr/>
        </ns0:nvSpPr>
        <ns0:spPr>
          <ns0:xfrm xmlns:ns0="http://schemas.openxmlformats.org/drawingml/2006/main">
            <ns0:off x="8293608" y="3931920"/>
            <ns0:ext cx="3136392" cy="5760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Reject troubled candidates, then reweight.</ns0:t>
            </ns0:r>
            <ns0:endParaRPr lang="en-US" sz="1600"/>
          </ns0:p>
        </ns0:txBody>
      </ns0:sp>
      <ns0:sp>
        <ns0:nvSpPr>
          <ns0:cNvPr id="37" name="Text 37"/>
          <ns0:cNvSpPr/>
          <ns0:nvPr/>
        </ns0:nvSpPr>
        <ns0:spPr>
          <ns0:xfrm xmlns:ns0="http://schemas.openxmlformats.org/drawingml/2006/main">
            <ns0:off x="768096" y="4663440"/>
            <ns0:ext cx="3108960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Keep one reliable candidate.</ns0:t>
            </ns0:r>
            <ns0:endParaRPr lang="en-US" sz="1500"/>
          </ns0:p>
        </ns0:txBody>
      </ns0:sp>
      <ns0:sp>
        <ns0:nvSpPr>
          <ns0:cNvPr id="38" name="Text 38"/>
          <ns0:cNvSpPr/>
          <ns0:nvPr/>
        </ns0:nvSpPr>
        <ns0:spPr>
          <ns0:xfrm xmlns:ns0="http://schemas.openxmlformats.org/drawingml/2006/main">
            <ns0:off x="4535424" y="4645152"/>
            <ns0:ext cx="3118104" cy="8046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Smooth region: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spread trust across the candidates.</ns0:t>
            </ns0:r>
            <ns0:endParaRPr lang="en-US" sz="1600"/>
          </ns0:p>
        </ns0:txBody>
      </ns0:sp>
      <ns0:sp>
        <ns0:nvSpPr>
          <ns0:cNvPr id="39" name="Text 39"/>
          <ns0:cNvSpPr/>
          <ns0:nvPr/>
        </ns0:nvSpPr>
        <ns0:spPr>
          <ns0:xfrm xmlns:ns0="http://schemas.openxmlformats.org/drawingml/2006/main">
            <ns0:off x="8302752" y="4645152"/>
            <ns0:ext cx="3118104" cy="8046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Near a shock: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reject a candidate crossing the jump.</ns0:t>
            </ns0:r>
            <ns0:endParaRPr lang="en-US" sz="1600"/>
          </ns0:p>
        </ns0:txBody>
      </ns0:sp>
      <ns0:pic>
        <ns0:nvPicPr>
          <ns0:cNvPr id="40" name="Equation: \hat f_{i+1/2}=\omega_0q_0+\omega_1q_1+\omega_2q_2 40" descr="Equation: \hat f_{i+1/2}=\omega_0q_0+\omega_1q_1+\omega_2q_2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1="http://schemas.openxmlformats.org/officeDocument/2006/relationships" ns11:embed="rId40">
            <ns0:extLst>
              <ns0:ext uri="{96DAC541-7B7A-43D3-8B79-37D633B846F1}">
                <ns0:svgBlip xmlns:ns0="http://schemas.microsoft.com/office/drawing/2016/SVG/main" ns11:embed="rId4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0080" y="5890387"/>
            <ns0:ext cx="3758948" cy="45389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41" name="Text 41"/>
          <ns0:cNvSpPr/>
          <ns0:nvPr/>
        </ns0:nvSpPr>
        <ns0:spPr>
          <ns0:xfrm xmlns:ns0="http://schemas.openxmlformats.org/drawingml/2006/main">
            <ns0:off x="9034272" y="5961888"/>
            <ns0:ext cx="251460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Combine with local weights.</ns0:t>
            </ns0:r>
            <ns0:endParaRPr lang="en-US" sz="1150"/>
          </ns0:p>
        </ns0:txBody>
      </ns0:sp>
    </ns0:spTree>
  </ns0:cSld>
  <ns0:clrMapOvr>
    <ns0:masterClrMapping xmlns:ns0="http://schemas.openxmlformats.org/drawingml/2006/main"/>
  </ns0:clrMapOvr>
</ns0:sld>
</file>

<file path=ppt/slides/slide5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CONTRIBUTION · FINAL NN-TENO5 ARCHITECTURE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The final model learns decisions and their influence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06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76072" y="1527048"/>
            <ns0:ext cx="10972800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Two reconstruction paths share the same local data; a small head controls their blend.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011680"/>
            <ns0:ext cx="7315200" cy="49377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77240" y="2121408"/>
            <ns0:ext cx="685800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Local five-point stencil</ns0:t>
            </ns0:r>
            <ns0:endParaRPr lang="en-US" sz="190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2148840" y="2560320"/>
            <ns0:ext cx="32918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↓</ns0:t>
            </ns0:r>
            <ns0:endParaRPr lang="en-US" sz="2100"/>
          </ns0:p>
        </ns0:txBody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5925312" y="2560320"/>
            <ns0:ext cx="32918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↓</ns0:t>
            </ns0:r>
            <ns0:endParaRPr lang="en-US" sz="210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8119872" y="2157984"/>
            <ns0:ext cx="3493008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Only 4 trainable parameters</ns0:t>
            </ns0:r>
            <ns0:endParaRPr lang="en-US" sz="1500"/>
          </ns0:p>
        </ns0:txBody>
      </ns0:sp>
      <ns0:sp>
        <ns0:nvSpPr>
          <ns0:cNvPr id="15" name="Panel 15"/>
          <ns0:cNvSpPr/>
          <ns0:nvPr/>
        </ns0:nvSpPr>
        <ns0:spPr>
          <ns0:xfrm xmlns:ns0="http://schemas.openxmlformats.org/drawingml/2006/main">
            <ns0:off x="548640" y="2907792"/>
            <ns0:ext cx="3529584" cy="146304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4325112" y="2907792"/>
            <ns0:ext cx="3529584" cy="146304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Panel 17"/>
          <ns0:cNvSpPr/>
          <ns0:nvPr/>
        </ns0:nvSpPr>
        <ns0:spPr>
          <ns0:xfrm xmlns:ns0="http://schemas.openxmlformats.org/drawingml/2006/main">
            <ns0:off x="8101584" y="2907792"/>
            <ns0:ext cx="3529584" cy="146304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758952" y="3108960"/>
            <ns0:ext cx="3108960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Classical TENO5</ns0:t>
            </ns0:r>
            <ns0:endParaRPr lang="en-US" sz="20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758952" y="3584448"/>
            <ns0:ext cx="3108960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Baseline reconstruction</ns0:t>
            </ns0:r>
            <ns0:endParaRPr lang="en-US" sz="1550"/>
          </ns0:p>
        </ns0:txBody>
      </ns0:sp>
      <ns0:pic>
        <ns0:nvPicPr>
          <ns0:cNvPr id="20" name="Equation: \Phi_{\mathrm{TENO5}} 20" descr="Equation: \Phi_{\mathrm{TENO5}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58952" y="3933762"/>
            <ns0:ext cx="1075070" cy="28892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4535424" y="3108960"/>
            <ns0:ext cx="3108960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Neural reconstruction</ns0:t>
            </ns0:r>
            <ns0:endParaRPr lang="en-US" sz="2000"/>
          </ns0:p>
        </ns0:txBody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4535424" y="3611880"/>
            <ns0:ext cx="310896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Classifier: 5 → 64 → 32 → 16 → 8 → 3</ns0:t>
            </ns0:r>
            <ns0:endParaRPr lang="en-US" sz="1300"/>
          </ns0:p>
        </ns0:txBody>
      </ns0:sp>
      <ns0:pic>
        <ns0:nvPicPr>
          <ns0:cNvPr id="23" name="Equation: \Phi_{\mathrm{NN}} 23" descr="Equation: \Phi_{\mathrm{NN}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35424" y="3933762"/>
            <ns0:ext cx="681997" cy="288925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5806440" y="3977640"/>
            <ns0:ext cx="1847088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Outputs: p₀, p₁, p₂</ns0:t>
            </ns0:r>
            <ns0:endParaRPr lang="en-US" sz="1350"/>
          </ns0:p>
        </ns0:txBody>
      </ns0:sp>
      <ns0:sp>
        <ns0:nvSpPr>
          <ns0:cNvPr id="25" name="Text 25"/>
          <ns0:cNvSpPr/>
          <ns0:nvPr/>
        </ns0:nvSpPr>
        <ns0:spPr>
          <ns0:xfrm xmlns:ns0="http://schemas.openxmlformats.org/drawingml/2006/main">
            <ns0:off x="7854696" y="3648456"/>
            <ns0:ext cx="246888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8311896" y="3108960"/>
            <ns0:ext cx="3108960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Dedicated mixing head</ns0:t>
            </ns0:r>
            <ns0:endParaRPr lang="en-US" sz="2000"/>
          </ns0:p>
        </ns0:txBody>
      </ns0:sp>
      <ns0:sp>
        <ns0:nvSpPr>
          <ns0:cNvPr id="27" name="Text 27"/>
          <ns0:cNvSpPr/>
          <ns0:nvPr/>
        </ns0:nvSpPr>
        <ns0:spPr>
          <ns0:xfrm xmlns:ns0="http://schemas.openxmlformats.org/drawingml/2006/main">
            <ns0:off x="8311896" y="3611880"/>
            <ns0:ext cx="310896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Three probabilities → sigmoid → λ</ns0:t>
            </ns0:r>
            <ns0:endParaRPr lang="en-US" sz="1350"/>
          </ns0:p>
        </ns0:txBody>
      </ns0:sp>
      <ns0:pic>
        <ns0:nvPicPr>
          <ns0:cNvPr id="28" name="Equation: 0\leq\lambda\leq1 28" descr="Equation: 0\leq\lambda\leq1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311896" y="3934206"/>
            <ns0:ext cx="1463625" cy="28803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9" name="Text 29"/>
          <ns0:cNvSpPr/>
          <ns0:nvPr/>
        </ns0:nvSpPr>
        <ns0:spPr>
          <ns0:xfrm xmlns:ns0="http://schemas.openxmlformats.org/drawingml/2006/main">
            <ns0:off x="2148840" y="4434840"/>
            <ns0:ext cx="32918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↓</ns0:t>
            </ns0:r>
            <ns0:endParaRPr lang="en-US" sz="2100"/>
          </ns0:p>
        </ns0:txBody>
      </ns0:sp>
      <ns0:sp>
        <ns0:nvSpPr>
          <ns0:cNvPr id="30" name="Text 30"/>
          <ns0:cNvSpPr/>
          <ns0:nvPr/>
        </ns0:nvSpPr>
        <ns0:spPr>
          <ns0:xfrm xmlns:ns0="http://schemas.openxmlformats.org/drawingml/2006/main">
            <ns0:off x="5925312" y="4434840"/>
            <ns0:ext cx="32918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↓</ns0:t>
            </ns0:r>
            <ns0:endParaRPr lang="en-US" sz="2100"/>
          </ns0:p>
        </ns0:txBody>
      </ns0:sp>
      <ns0:sp>
        <ns0:nvSpPr>
          <ns0:cNvPr id="31" name="Text 31"/>
          <ns0:cNvSpPr/>
          <ns0:nvPr/>
        </ns0:nvSpPr>
        <ns0:spPr>
          <ns0:xfrm xmlns:ns0="http://schemas.openxmlformats.org/drawingml/2006/main">
            <ns0:off x="9701784" y="4434840"/>
            <ns0:ext cx="32918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↓</ns0:t>
            </ns0:r>
            <ns0:endParaRPr lang="en-US" sz="2100"/>
          </ns0:p>
        </ns0:txBody>
      </ns0:sp>
      <ns0:sp>
        <ns0:nvSpPr>
          <ns0:cNvPr id="32" name="Panel 32"/>
          <ns0:cNvSpPr/>
          <ns0:nvPr/>
        </ns0:nvSpPr>
        <ns0:spPr>
          <ns0:xfrm xmlns:ns0="http://schemas.openxmlformats.org/drawingml/2006/main">
            <ns0:off x="548640" y="4800600"/>
            <ns0:ext cx="11082528" cy="74066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33" name="Equation: \Phi_{\mathrm{final}}=(1-\lambda)\Phi_{\mathrm{TENO5}}+\lambda\Phi_{\mathrm{NN}} 33" descr="Equation: \Phi_{\mathrm{final}}=(1-\lambda)\Phi_{\mathrm{TENO5}}+\lambda\Phi_{\mathrm{NN}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638106" y="4959668"/>
            <ns0:ext cx="4871104" cy="404241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34" name="Text 34"/>
          <ns0:cNvSpPr/>
          <ns0:nvPr/>
        </ns0:nvSpPr>
        <ns0:spPr>
          <ns0:xfrm xmlns:ns0="http://schemas.openxmlformats.org/drawingml/2006/main">
            <ns0:off x="5925312" y="5577840"/>
            <ns0:ext cx="329184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↓</ns0:t>
            </ns0:r>
            <ns0:endParaRPr lang="en-US" sz="2100"/>
          </ns0:p>
        </ns0:txBody>
      </ns0:sp>
      <ns0:sp>
        <ns0:nvSpPr>
          <ns0:cNvPr id="35" name="Text 35"/>
          <ns0:cNvSpPr/>
          <ns0:nvPr/>
        </ns0:nvSpPr>
        <ns0:spPr>
          <ns0:xfrm xmlns:ns0="http://schemas.openxmlformats.org/drawingml/2006/main">
            <ns0:off x="731520" y="5952744"/>
            <ns0:ext cx="10744200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Conservative flux update + SSPRK3</ns0:t>
            </ns0:r>
            <ns0:endParaRPr lang="en-US" sz="2000"/>
          </ns0:p>
        </ns0:txBody>
      </ns0:sp>
    </ns0:spTree>
  </ns0:cSld>
  <ns0:clrMapOvr>
    <ns0:masterClrMapping xmlns:ns0="http://schemas.openxmlformats.org/drawingml/2006/main"/>
  </ns0:clrMapOvr>
</ns0:sld>
</file>

<file path=ppt/slides/slide6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METHOD · FROM IMITATION TO SOLVER-IN-THE-LOOP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Train on the solution after real solver steps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08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76072" y="1536192"/>
            <ns0:ext cx="10972800" cy="3657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Imitation learns TENO5 labels. Physics training instead optimizes the evolved solution.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093976"/>
            <ns0:ext cx="2971800" cy="65836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76656" y="2286000"/>
            <ns0:ext cx="2715768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Start from a physical state</ns0:t>
            </ns0:r>
            <ns0:endParaRPr lang="en-US" sz="1700"/>
          </ns0:p>
        </ns0:txBody>
      </ns0:sp>
      <ns0:sp>
        <ns0:nvSpPr>
          <ns0:cNvPr id="12" name="Panel 12"/>
          <ns0:cNvSpPr/>
          <ns0:nvPr/>
        </ns0:nvSpPr>
        <ns0:spPr>
          <ns0:xfrm xmlns:ns0="http://schemas.openxmlformats.org/drawingml/2006/main">
            <ns0:off x="4142232" y="2093976"/>
            <ns0:ext cx="3611880" cy="65836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4270248" y="2286000"/>
            <ns0:ext cx="3355848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Run K complete SSPRK3 steps</ns0:t>
            </ns0:r>
            <ns0:endParaRPr lang="en-US" sz="1700"/>
          </ns0:p>
        </ns0:txBody>
      </ns0:sp>
      <ns0:sp>
        <ns0:nvSpPr>
          <ns0:cNvPr id="14" name="Panel 14"/>
          <ns0:cNvSpPr/>
          <ns0:nvPr/>
        </ns0:nvSpPr>
        <ns0:spPr>
          <ns0:xfrm xmlns:ns0="http://schemas.openxmlformats.org/drawingml/2006/main">
            <ns0:off x="8375904" y="2093976"/>
            <ns0:ext cx="3255264" cy="65836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8503920" y="2286000"/>
            <ns0:ext cx="2999232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Compare with the reference</ns0:t>
            </ns0:r>
            <ns0:endParaRPr lang="en-US" sz="170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3611880" y="2276856"/>
            <ns0:ext cx="384048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7863840" y="2276856"/>
            <ns0:ext cx="384048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40080" y="2916936"/>
            <ns0:ext cx="10899648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training gradient passes through reconstruction, fluxes and every time-integration stage.</ns0:t>
            </ns0:r>
            <ns0:endParaRPr lang="en-US" sz="1550"/>
          </ns0:p>
        </ns0:txBody>
      </ns0:sp>
      <ns0:pic>
        <ns0:nvPicPr>
          <ns0:cNvPr id="19" name="Equation: \boxed{\mathcal{L}_{\mathrm{total}}=\alpha_1\mathcal{L}_{\mathrm{MSE}}+\alpha_2\mathcal{L}_{\mathrm{TV}}+\alpha_3\mathcal{L}_{\mathrm{BVD}}+\alpha_4\mathcal{L}_{\mathrm{Reg}}} 19" descr="Equation: \boxed{\mathcal{L}_{\mathrm{total}}=\alpha_1\mathcal{L}_{\mathrm{MSE}}+\alpha_2\mathcal{L}_{\mathrm{TV}}+\alpha_3\mathcal{L}_{\mathrm{BVD}}+\alpha_4\mathcal{L}_{\mathrm{Reg}}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486978" y="3523107"/>
            <ns0:ext cx="7209722" cy="47929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40080" y="4206240"/>
            <ns0:ext cx="10899648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α weights balance the loss terms; λ is reserved for the learned reconstruction mix.</ns0:t>
            </ns0:r>
            <ns0:endParaRPr lang="en-US" sz="1400"/>
          </ns0:p>
        </ns0:txBody>
      </ns0:sp>
      <ns0:sp>
        <ns0:nvSpPr>
          <ns0:cNvPr id="21" name="Panel 21"/>
          <ns0:cNvSpPr/>
          <ns0:nvPr/>
        </ns0:nvSpPr>
        <ns0:spPr>
          <ns0:xfrm xmlns:ns0="http://schemas.openxmlformats.org/drawingml/2006/main">
            <ns0:off x="548640" y="4681728"/>
            <ns0:ext cx="2633472" cy="12070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722376" y="4864608"/>
            <ns0:ext cx="2286000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MSE · accuracy</ns0:t>
            </ns0:r>
            <ns0:endParaRPr lang="en-US" sz="1800"/>
          </ns0:p>
        </ns0:txBody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722376" y="5303520"/>
            <ns0:ext cx="2286000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Fit the reference</ns0:t>
            </ns0:r>
            <ns0:endParaRPr lang="en-US" sz="145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solution after K steps.</ns0:t>
            </ns0:r>
            <ns0:endParaRPr lang="en-US" sz="1450"/>
          </ns0:p>
        </ns0:txBody>
      </ns0:sp>
      <ns0:sp>
        <ns0:nvSpPr>
          <ns0:cNvPr id="24" name="Panel 24"/>
          <ns0:cNvSpPr/>
          <ns0:nvPr/>
        </ns0:nvSpPr>
        <ns0:spPr>
          <ns0:xfrm xmlns:ns0="http://schemas.openxmlformats.org/drawingml/2006/main">
            <ns0:off x="3364992" y="4681728"/>
            <ns0:ext cx="2633472" cy="12070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5" name="Text 25"/>
          <ns0:cNvSpPr/>
          <ns0:nvPr/>
        </ns0:nvSpPr>
        <ns0:spPr>
          <ns0:xfrm xmlns:ns0="http://schemas.openxmlformats.org/drawingml/2006/main">
            <ns0:off x="3538728" y="4864608"/>
            <ns0:ext cx="2286000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TV · oscillations</ns0:t>
            </ns0:r>
            <ns0:endParaRPr lang="en-US" sz="1800"/>
          </ns0:p>
        </ns0:txBody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3538728" y="5303520"/>
            <ns0:ext cx="2286000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Penalize excess variation</ns0:t>
            </ns0:r>
            <ns0:endParaRPr lang="en-US" sz="145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relative to the start.</ns0:t>
            </ns0:r>
            <ns0:endParaRPr lang="en-US" sz="1450"/>
          </ns0:p>
        </ns0:txBody>
      </ns0:sp>
      <ns0:sp>
        <ns0:nvSpPr>
          <ns0:cNvPr id="27" name="Panel 27"/>
          <ns0:cNvSpPr/>
          <ns0:nvPr/>
        </ns0:nvSpPr>
        <ns0:spPr>
          <ns0:xfrm xmlns:ns0="http://schemas.openxmlformats.org/drawingml/2006/main">
            <ns0:off x="6181344" y="4681728"/>
            <ns0:ext cx="2633472" cy="12070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8" name="Text 28"/>
          <ns0:cNvSpPr/>
          <ns0:nvPr/>
        </ns0:nvSpPr>
        <ns0:spPr>
          <ns0:xfrm xmlns:ns0="http://schemas.openxmlformats.org/drawingml/2006/main">
            <ns0:off x="6355080" y="4864608"/>
            <ns0:ext cx="2286000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BVD · interfaces</ns0:t>
            </ns0:r>
            <ns0:endParaRPr lang="en-US" sz="1800"/>
          </ns0:p>
        </ns0:txBody>
      </ns0:sp>
      <ns0:sp>
        <ns0:nvSpPr>
          <ns0:cNvPr id="29" name="Text 29"/>
          <ns0:cNvSpPr/>
          <ns0:nvPr/>
        </ns0:nvSpPr>
        <ns0:spPr>
          <ns0:xfrm xmlns:ns0="http://schemas.openxmlformats.org/drawingml/2006/main">
            <ns0:off x="6355080" y="5303520"/>
            <ns0:ext cx="2286000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Penalize extra interface</ns0:t>
            </ns0:r>
            <ns0:endParaRPr lang="en-US" sz="145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jumps beyond TENO5.</ns0:t>
            </ns0:r>
            <ns0:endParaRPr lang="en-US" sz="1450"/>
          </ns0:p>
        </ns0:txBody>
      </ns0:sp>
      <ns0:sp>
        <ns0:nvSpPr>
          <ns0:cNvPr id="30" name="Panel 30"/>
          <ns0:cNvSpPr/>
          <ns0:nvPr/>
        </ns0:nvSpPr>
        <ns0:spPr>
          <ns0:xfrm xmlns:ns0="http://schemas.openxmlformats.org/drawingml/2006/main">
            <ns0:off x="8997696" y="4681728"/>
            <ns0:ext cx="2633472" cy="12070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1" name="Text 31"/>
          <ns0:cNvSpPr/>
          <ns0:nvPr/>
        </ns0:nvSpPr>
        <ns0:spPr>
          <ns0:xfrm xmlns:ns0="http://schemas.openxmlformats.org/drawingml/2006/main">
            <ns0:off x="9171432" y="4864608"/>
            <ns0:ext cx="2286000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Reg · anchoring</ns0:t>
            </ns0:r>
            <ns0:endParaRPr lang="en-US" sz="1800"/>
          </ns0:p>
        </ns0:txBody>
      </ns0:sp>
      <ns0:sp>
        <ns0:nvSpPr>
          <ns0:cNvPr id="32" name="Text 32"/>
          <ns0:cNvSpPr/>
          <ns0:nvPr/>
        </ns0:nvSpPr>
        <ns0:spPr>
          <ns0:xfrm xmlns:ns0="http://schemas.openxmlformats.org/drawingml/2006/main">
            <ns0:off x="9171432" y="5303520"/>
            <ns0:ext cx="2286000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Keep weights close to</ns0:t>
            </ns0:r>
            <ns0:endParaRPr lang="en-US" sz="145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pretrained model.</ns0:t>
            </ns0:r>
            <ns0:endParaRPr lang="en-US" sz="1450"/>
          </ns0:p>
        </ns0:txBody>
      </ns0:sp>
      <ns0:sp>
        <ns0:nvSpPr>
          <ns0:cNvPr id="33" name="Text 33"/>
          <ns0:cNvSpPr/>
          <ns0:nvPr/>
        </ns0:nvSpPr>
        <ns0:spPr>
          <ns0:xfrm xmlns:ns0="http://schemas.openxmlformats.org/drawingml/2006/main">
            <ns0:off x="640080" y="6053328"/>
            <ns0:ext cx="1092708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Euler also adds a positivity penalty, measured before state repair; TV and Reg are normalized.</ns0:t>
            </ns0:r>
            <ns0:endParaRPr lang="en-US" sz="1350"/>
          </ns0:p>
        </ns0:txBody>
      </ns0:sp>
    </ns0:spTree>
  </ns0:cSld>
  <ns0:clrMapOvr>
    <ns0:masterClrMapping xmlns:ns0="http://schemas.openxmlformats.org/drawingml/2006/main"/>
  </ns0:clrMapOvr>
</ns0:sld>
</file>

<file path=ppt/slides/slide7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METHOD · LESSONS AND SAFEGUARDS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What mixing solved—and what it did not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10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76072" y="1536192"/>
            <ns0:ext cx="10972800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A small neural correction keeps the final reconstruction close to the classical baseline.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057400"/>
            <ns0:ext cx="2633472" cy="53035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40080" y="2194560"/>
            <ns0:ext cx="245059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Imitation</ns0:t>
            </ns0:r>
            <ns0:endParaRPr lang="en-US" sz="170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3191256" y="2185416"/>
            <ns0:ext cx="17373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3" name="Panel 13"/>
          <ns0:cNvSpPr/>
          <ns0:nvPr/>
        </ns0:nvSpPr>
        <ns0:spPr>
          <ns0:xfrm xmlns:ns0="http://schemas.openxmlformats.org/drawingml/2006/main">
            <ns0:off x="3364992" y="2057400"/>
            <ns0:ext cx="2633472" cy="53035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3456432" y="2194560"/>
            <ns0:ext cx="245059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Physics training</ns0:t>
            </ns0:r>
            <ns0:endParaRPr lang="en-US" sz="17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007608" y="2185416"/>
            <ns0:ext cx="17373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6181344" y="2057400"/>
            <ns0:ext cx="2633472" cy="53035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6272784" y="2194560"/>
            <ns0:ext cx="245059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Euler repairs</ns0:t>
            </ns0:r>
            <ns0:endParaRPr lang="en-US" sz="17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8823960" y="2185416"/>
            <ns0:ext cx="17373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9" name="Panel 19"/>
          <ns0:cNvSpPr/>
          <ns0:nvPr/>
        </ns0:nvSpPr>
        <ns0:spPr>
          <ns0:xfrm xmlns:ns0="http://schemas.openxmlformats.org/drawingml/2006/main">
            <ns0:off x="8997696" y="2057400"/>
            <ns0:ext cx="2633472" cy="53035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9089136" y="2194560"/>
            <ns0:ext cx="2450592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Learned mixing</ns0:t>
            </ns0:r>
            <ns0:endParaRPr lang="en-US" sz="1700"/>
          </ns0:p>
        </ns0:txBody>
      </ns0:sp>
      <ns0:sp>
        <ns0:nvSpPr>
          <ns0:cNvPr id="21" name="Panel 21"/>
          <ns0:cNvSpPr/>
          <ns0:nvPr/>
        </ns0:nvSpPr>
        <ns0:spPr>
          <ns0:xfrm xmlns:ns0="http://schemas.openxmlformats.org/drawingml/2006/main">
            <ns0:off x="548640" y="2962656"/>
            <ns0:ext cx="3529584" cy="227685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758952" y="3191256"/>
            <ns0:ext cx="310896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Separate two decisions</ns0:t>
            </ns0:r>
            <ns0:endParaRPr lang="en-US" sz="1900"/>
          </ns0:p>
        </ns0:txBody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758952" y="3739896"/>
            <ns0:ext cx="3108960" cy="12801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Classifier: which candidates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to reject.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/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Mixing head: how much of the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neural reconstruction to use.</ns0:t>
            </ns0:r>
            <ns0:endParaRPr lang="en-US" sz="1600"/>
          </ns0:p>
        </ns0:txBody>
      </ns0:sp>
      <ns0:sp>
        <ns0:nvSpPr>
          <ns0:cNvPr id="24" name="Panel 24"/>
          <ns0:cNvSpPr/>
          <ns0:nvPr/>
        </ns0:nvSpPr>
        <ns0:spPr>
          <ns0:xfrm xmlns:ns0="http://schemas.openxmlformats.org/drawingml/2006/main">
            <ns0:off x="4325112" y="2962656"/>
            <ns0:ext cx="3529584" cy="227685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5" name="Text 25"/>
          <ns0:cNvSpPr/>
          <ns0:nvPr/>
        </ns0:nvSpPr>
        <ns0:spPr>
          <ns0:xfrm xmlns:ns0="http://schemas.openxmlformats.org/drawingml/2006/main">
            <ns0:off x="4535424" y="3191256"/>
            <ns0:ext cx="310896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Begin close to TENO5</ns0:t>
            </ns0:r>
            <ns0:endParaRPr lang="en-US" sz="1900"/>
          </ns0:p>
        </ns0:txBody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4535424" y="3739896"/>
            <ns0:ext cx="3108960" cy="12801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head starts near a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5% neural contribution.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/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A small scalar blend already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helps; training improves it further.</ns0:t>
            </ns0:r>
            <ns0:endParaRPr lang="en-US" sz="1600"/>
          </ns0:p>
        </ns0:txBody>
      </ns0:sp>
      <ns0:sp>
        <ns0:nvSpPr>
          <ns0:cNvPr id="27" name="Panel 27"/>
          <ns0:cNvSpPr/>
          <ns0:nvPr/>
        </ns0:nvSpPr>
        <ns0:spPr>
          <ns0:xfrm xmlns:ns0="http://schemas.openxmlformats.org/drawingml/2006/main">
            <ns0:off x="8101584" y="2962656"/>
            <ns0:ext cx="3529584" cy="227685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8" name="Text 28"/>
          <ns0:cNvSpPr/>
          <ns0:nvPr/>
        </ns0:nvSpPr>
        <ns0:spPr>
          <ns0:xfrm xmlns:ns0="http://schemas.openxmlformats.org/drawingml/2006/main">
            <ns0:off x="8311896" y="3191256"/>
            <ns0:ext cx="310896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9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Keep guarantees separate</ns0:t>
            </ns0:r>
            <ns0:endParaRPr lang="en-US" sz="1900"/>
          </ns0:p>
        </ns0:txBody>
      </ns0:sp>
      <ns0:sp>
        <ns0:nvSpPr>
          <ns0:cNvPr id="29" name="Text 29"/>
          <ns0:cNvSpPr/>
          <ns0:nvPr/>
        </ns0:nvSpPr>
        <ns0:spPr>
          <ns0:xfrm xmlns:ns0="http://schemas.openxmlformats.org/drawingml/2006/main">
            <ns0:off x="8311896" y="3739896"/>
            <ns0:ext cx="3108960" cy="128016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Convex mixing is not a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positivity or TVD proof.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/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State repairs are safeguards,</ns0:t>
            </ns0:r>
            <ns0:endParaRPr lang="en-US" sz="1600"/>
          </ns0:p>
          <ns0:p xmlns:ns0="http://schemas.openxmlformats.org/drawingml/2006/main">
            <ns0:pPr algn="l" marL="0" marR="0" indent="0">
              <ns0:lnSpc>
                <ns0:spcPct val="110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not mathematical guarantees.</ns0:t>
            </ns0:r>
            <ns0:endParaRPr lang="en-US" sz="1600"/>
          </ns0:p>
        </ns0:txBody>
      </ns0:sp>
      <ns0:sp>
        <ns0:nvSpPr>
          <ns0:cNvPr id="30" name="Text 30"/>
          <ns0:cNvSpPr/>
          <ns0:nvPr/>
        </ns0:nvSpPr>
        <ns0:spPr>
          <ns0:xfrm xmlns:ns0="http://schemas.openxmlformats.org/drawingml/2006/main">
            <ns0:off x="649224" y="5504688"/>
            <ns0:ext cx="1091793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Final Sod and Shu–Osher runs remain finite and positive without invoking state repairs.</ns0:t>
            </ns0:r>
            <ns0:endParaRPr lang="en-US" sz="1600"/>
          </ns0:p>
        </ns0:txBody>
      </ns0:sp>
      <ns0:sp>
        <ns0:nvSpPr>
          <ns0:cNvPr id="31" name="Panel 31"/>
          <ns0:cNvSpPr/>
          <ns0:nvPr/>
        </ns0:nvSpPr>
        <ns0:spPr>
          <ns0:xfrm xmlns:ns0="http://schemas.openxmlformats.org/drawingml/2006/main">
            <ns0:off x="548640" y="6053328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B91C1C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2" name="Text 32"/>
          <ns0:cNvSpPr/>
          <ns0:nvPr/>
        </ns0:nvSpPr>
        <ns0:spPr>
          <ns0:xfrm xmlns:ns0="http://schemas.openxmlformats.org/drawingml/2006/main">
            <ns0:off x="704088" y="6044184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B91C1C"/>
                </ns0:solidFill>
                <ns0:latin typeface="Arial"/>
                <ns0:ea typeface="Arial"/>
                <ns0:cs typeface="Arial"/>
              </ns0:rPr>
              <ns0:t>Sod still has slightly higher error: better mixing alone has not removed the backbone's limit.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8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RESULTS · FINAL SCALAR CHECKPOINT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Final scalar models improve both benchmarks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11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612648" y="1527048"/>
            <ns0:ext cx="531266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Advection</ns0:t>
            </ns0:r>
            <ns0:endParaRPr lang="en-US" sz="2200"/>
          </ns0:p>
        </ns0:txBody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612648" y="1956816"/>
            <ns0:ext cx="5312664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3.5% lower L₂ error</ns0:t>
            </ns0:r>
            <ns0:endParaRPr lang="en-US" sz="1800"/>
          </ns0:p>
        </ns0:txBody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12648" y="2377440"/>
            <ns0:ext cx="5312664" cy="256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64 cells · CFL 0.5 · t = 1.0 · exact reference</ns0:t>
            </ns0:r>
            <ns0:endParaRPr lang="en-US" sz="1250"/>
          </ns0:p>
        </ns0:txBody>
      </ns0:sp>
      <ns0:pic>
        <ns0:nvPicPr>
          <ns0:cNvPr id="12" name="Final TENO5 and NN-TENO5 versus reference: Advection; solution and local error 12" descr="Final TENO5 and NN-TENO5 versus reference: Advection; solution and local error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98975" y="2706624"/>
            <ns0:ext cx="5140011" cy="328269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263640" y="1527048"/>
            <ns0:ext cx="531266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Burgers</ns0:t>
            </ns0:r>
            <ns0:endParaRPr lang="en-US" sz="220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263640" y="1956816"/>
            <ns0:ext cx="5312664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18.6% lower L₂ error</ns0:t>
            </ns0:r>
            <ns0:endParaRPr lang="en-US" sz="18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263640" y="2377440"/>
            <ns0:ext cx="5312664" cy="256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64 cells · CFL 0.5 · t = 0.5 · exact reference</ns0:t>
            </ns0:r>
            <ns0:endParaRPr lang="en-US" sz="1250"/>
          </ns0:p>
        </ns0:txBody>
      </ns0:sp>
      <ns0:pic>
        <ns0:nvPicPr>
          <ns0:cNvPr id="16" name="Final TENO5 and NN-TENO5 versus reference: Burgers; solution and local error 16" descr="Final TENO5 and NN-TENO5 versus reference: Burgers; solution and local error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349967" y="2706624"/>
            <ns0:ext cx="5140011" cy="328269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640080" y="6153912"/>
            <ns0:ext cx="10936224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Burgers is evaluated before shock formation. Each lower panel shows a separate local-error zoom.</ns0:t>
            </ns0:r>
            <ns0:endParaRPr lang="en-US" sz="1200"/>
          </ns0:p>
        </ns0:txBody>
      </ns0:sp>
    </ns0:spTree>
  </ns0:cSld>
  <ns0:clrMapOvr>
    <ns0:masterClrMapping xmlns:ns0="http://schemas.openxmlformats.org/drawingml/2006/main"/>
  </ns0:clrMapOvr>
</ns0:sld>
</file>

<file path=ppt/slides/slide9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RESULTS · FINAL EULER CHECKPOINT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Euler gains depend on the benchmark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12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612648" y="1527048"/>
            <ns0:ext cx="531266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Sod</ns0:t>
            </ns0:r>
            <ns0:endParaRPr lang="en-US" sz="2200"/>
          </ns0:p>
        </ns0:txBody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612648" y="1956816"/>
            <ns0:ext cx="5312664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B91C1C"/>
                </ns0:solidFill>
                <ns0:latin typeface="Arial"/>
                <ns0:ea typeface="Arial"/>
                <ns0:cs typeface="Arial"/>
              </ns0:rPr>
              <ns0:t>+0.35% error · slightly worse</ns0:t>
            </ns0:r>
            <ns0:endParaRPr lang="en-US" sz="1800"/>
          </ns0:p>
        </ns0:txBody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12648" y="2377440"/>
            <ns0:ext cx="5312664" cy="256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120 cells · t = 0.2 · exact Riemann reference</ns0:t>
            </ns0:r>
            <ns0:endParaRPr lang="en-US" sz="1250"/>
          </ns0:p>
        </ns0:txBody>
      </ns0:sp>
      <ns0:pic>
        <ns0:nvPicPr>
          <ns0:cNvPr id="12" name="Final TENO5 and NN-TENO5 versus reference: Sod; solution and local error 12" descr="Final TENO5 and NN-TENO5 versus reference: Sod; solution and local error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98975" y="2706624"/>
            <ns0:ext cx="5140011" cy="328269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263640" y="1527048"/>
            <ns0:ext cx="5312664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Shu–Osher</ns0:t>
            </ns0:r>
            <ns0:endParaRPr lang="en-US" sz="220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263640" y="1956816"/>
            <ns0:ext cx="5312664" cy="2926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−1.84% error · modest improvement</ns0:t>
            </ns0:r>
            <ns0:endParaRPr lang="en-US" sz="18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263640" y="2377440"/>
            <ns0:ext cx="5312664" cy="256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120 cells · t = 1.8 · 320-cell TENO5 reference</ns0:t>
            </ns0:r>
            <ns0:endParaRPr lang="en-US" sz="1250"/>
          </ns0:p>
        </ns0:txBody>
      </ns0:sp>
      <ns0:pic>
        <ns0:nvPicPr>
          <ns0:cNvPr id="16" name="Final TENO5 and NN-TENO5 versus reference: Shu–Osher; solution and local error 16" descr="Final TENO5 and NN-TENO5 versus reference: Shu–Osher; solution and local error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349967" y="2706624"/>
            <ns0:ext cx="5140011" cy="328269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640080" y="6153912"/>
            <ns0:ext cx="10936224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CFL 0.4. Top: density. Local errors and percentages use mean L₁ over density, momentum and energy.</ns0:t>
            </ns0:r>
            <ns0:endParaRPr lang="en-US" sz="1200"/>
          </ns0:p>
        </ns0:txBody>
      </ns0:sp>
    </ns0:spTree>
  </ns0:cSld>
  <ns0:clrMapOvr>
    <ns0:masterClrMapping xmlns:ns0="http://schemas.openxmlformats.org/drawingml/2006/main"/>
  </ns0:clrMapOvr>
</ns0:sld>
</file>

<file path=ppt/slides/slide10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CONCLUSION · SCIENTIFIC CONTRIBUTION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A solver-integrated correction with measured limits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14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76072" y="1536192"/>
            <ns0:ext cx="10972800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contribution is the full tested workflow—not a classifier in isolation.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157984"/>
            <ns0:ext cx="3529584" cy="245973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58952" y="2395728"/>
            <ns0:ext cx="3108960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Differentiable reconstruction</ns0:t>
            </ns0:r>
            <ns0:endParaRPr lang="en-US" sz="175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758952" y="2953512"/>
            <ns0:ext cx="3108960" cy="138988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TENO5 inside a differentiable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conservative solver.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/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Train on evolved states using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four-term physics loss.</ns0:t>
            </ns0:r>
            <ns0:endParaRPr lang="en-US" sz="1650"/>
          </ns0:p>
        </ns0:txBody>
      </ns0:sp>
      <ns0:sp>
        <ns0:nvSpPr>
          <ns0:cNvPr id="13" name="Panel 13"/>
          <ns0:cNvSpPr/>
          <ns0:nvPr/>
        </ns0:nvSpPr>
        <ns0:spPr>
          <ns0:xfrm xmlns:ns0="http://schemas.openxmlformats.org/drawingml/2006/main">
            <ns0:off x="4325112" y="2157984"/>
            <ns0:ext cx="3529584" cy="245973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4535424" y="2395728"/>
            <ns0:ext cx="3108960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Euler diagnosis and repairs</ns0:t>
            </ns0:r>
            <ns0:endParaRPr lang="en-US" sz="175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4535424" y="2953512"/>
            <ns0:ext cx="3108960" cy="138988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Identify invalid-state failures.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/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Combine pre-repair penalties,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substage safeguards and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a rollout curriculum.</ns0:t>
            </ns0:r>
            <ns0:endParaRPr lang="en-US" sz="1650"/>
          </ns0:p>
        </ns0:txBody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8101584" y="2157984"/>
            <ns0:ext cx="3529584" cy="2459736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8311896" y="2395728"/>
            <ns0:ext cx="3108960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Dedicated learned mixing</ns0:t>
            </ns0:r>
            <ns0:endParaRPr lang="en-US" sz="175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8311896" y="2953512"/>
            <ns0:ext cx="3108960" cy="138988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Separate candidate decisions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from their final influence.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/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A small mixing head retains</ns0:t>
            </ns0:r>
            <ns0:endParaRPr lang="en-US" sz="1650"/>
          </ns0:p>
          <ns0:p xmlns:ns0="http://schemas.openxmlformats.org/drawingml/2006/main">
            <ns0:pPr algn="l" marL="0" marR="0" indent="0">
              <ns0:lnSpc>
                <ns0:spcPct val="112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classical baseline.</ns0:t>
            </ns0:r>
            <ns0:endParaRPr lang="en-US" sz="1650"/>
          </ns0:p>
        </ns0:txBody>
      </ns0:sp>
      <ns0:sp>
        <ns0:nvSpPr>
          <ns0:cNvPr id="19" name="Panel 19"/>
          <ns0:cNvSpPr/>
          <ns0:nvPr/>
        </ns0:nvSpPr>
        <ns0:spPr>
          <ns0:xfrm xmlns:ns0="http://schemas.openxmlformats.org/drawingml/2006/main">
            <ns0:off x="548640" y="4910328"/>
            <ns0:ext cx="11082528" cy="64922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777240" y="5111496"/>
            <ns0:ext cx="274320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Measured evidence</ns0:t>
            </ns0:r>
            <ns0:endParaRPr lang="en-US" sz="18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3685032" y="5111496"/>
            <ns0:ext cx="374904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3 of 4 benchmarks improve</ns0:t>
            </ns0:r>
            <ns0:endParaRPr lang="en-US" sz="1800"/>
          </ns0:p>
        </ns0:txBody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7982712" y="5111496"/>
            <ns0:ext cx="3383280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1" dirty="0">
                <ns0:solidFill>
                  <ns0:srgbClr val="B91C1C"/>
                </ns0:solidFill>
                <ns0:latin typeface="Arial"/>
                <ns0:ea typeface="Arial"/>
                <ns0:cs typeface="Arial"/>
              </ns0:rPr>
              <ns0:t>Sod: +0.35% error</ns0:t>
            </ns0:r>
            <ns0:endParaRPr lang="en-US" sz="1800"/>
          </ns0:p>
        </ns0:txBody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640080" y="5815584"/>
            <ns0:ext cx="10945368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Next: more grids and cases, backbone improvement, and a controlled accuracy–cost study.</ns0:t>
            </ns0:r>
            <ns0:endParaRPr lang="en-US" sz="160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640080" y="6208776"/>
            <ns0:ext cx="10945368" cy="2011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No established convergence result, general accuracy guarantee, or formal positivity / TVD proof.</ns0:t>
            </ns0:r>
            <ns0:endParaRPr lang="en-US" sz="1250"/>
          </ns0:p>
        </ns0:txBody>
      </ns0:sp>
    </ns0:spTree>
  </ns0:cSld>
  <ns0:clrMapOvr>
    <ns0:masterClrMapping xmlns:ns0="http://schemas.openxmlformats.org/drawingml/2006/main"/>
  </ns0:clrMapOvr>
</ns0:sld>
</file>

<file path=ppt/slides/slide14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PHYSICAL MODEL · EULER SYSTEM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Euler equations describe compressible flow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04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94360" y="1536192"/>
            <ns0:ext cx="10972800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 system tracks three conserved quantities throughout the flow.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112264"/>
            <ns0:ext cx="3529584" cy="132588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58952" y="2313432"/>
            <ns0:ext cx="310896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Density</ns0:t>
            </ns0:r>
            <ns0:endParaRPr lang="en-US" sz="220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758952" y="2807208"/>
            <ns0:ext cx="310896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How mass is distributed in the flow.</ns0:t>
            </ns0:r>
            <ns0:endParaRPr lang="en-US" sz="1700"/>
          </ns0:p>
        </ns0:txBody>
      </ns0:sp>
      <ns0:sp>
        <ns0:nvSpPr>
          <ns0:cNvPr id="13" name="Panel 13"/>
          <ns0:cNvSpPr/>
          <ns0:nvPr/>
        </ns0:nvSpPr>
        <ns0:spPr>
          <ns0:xfrm xmlns:ns0="http://schemas.openxmlformats.org/drawingml/2006/main">
            <ns0:off x="4325112" y="2112264"/>
            <ns0:ext cx="3529584" cy="132588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4535424" y="2313432"/>
            <ns0:ext cx="310896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Momentum</ns0:t>
            </ns0:r>
            <ns0:endParaRPr lang="en-US" sz="220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4535424" y="2807208"/>
            <ns0:ext cx="310896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How the motion of the fluid is transported.</ns0:t>
            </ns0:r>
            <ns0:endParaRPr lang="en-US" sz="1700"/>
          </ns0:p>
        </ns0:txBody>
      </ns0:sp>
      <ns0:sp>
        <ns0:nvSpPr>
          <ns0:cNvPr id="16" name="Panel 16"/>
          <ns0:cNvSpPr/>
          <ns0:nvPr/>
        </ns0:nvSpPr>
        <ns0:spPr>
          <ns0:xfrm xmlns:ns0="http://schemas.openxmlformats.org/drawingml/2006/main">
            <ns0:off x="8101584" y="2112264"/>
            <ns0:ext cx="3529584" cy="132588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8311896" y="2313432"/>
            <ns0:ext cx="310896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Total energy</ns0:t>
            </ns0:r>
            <ns0:endParaRPr lang="en-US" sz="22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8311896" y="2807208"/>
            <ns0:ext cx="310896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Internal and kinetic energy together.</ns0:t>
            </ns0:r>
            <ns0:endParaRPr lang="en-US" sz="1700"/>
          </ns0:p>
        </ns0:txBody>
      </ns0:sp>
      <ns0:sp>
        <ns0:nvSpPr>
          <ns0:cNvPr id="19" name="Panel 19"/>
          <ns0:cNvSpPr/>
          <ns0:nvPr/>
        </ns0:nvSpPr>
        <ns0:spPr>
          <ns0:xfrm xmlns:ns0="http://schemas.openxmlformats.org/drawingml/2006/main">
            <ns0:off x="548640" y="3749040"/>
            <ns0:ext cx="5422392" cy="196596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0" name="Panel 20"/>
          <ns0:cNvSpPr/>
          <ns0:nvPr/>
        </ns0:nvSpPr>
        <ns0:spPr>
          <ns0:xfrm xmlns:ns0="http://schemas.openxmlformats.org/drawingml/2006/main">
            <ns0:off x="6199632" y="3749040"/>
            <ns0:ext cx="5422392" cy="196596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777240" y="3968496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State used by the solver</ns0:t>
            </ns0:r>
            <ns0:endParaRPr lang="en-US" sz="2000"/>
          </ns0:p>
        </ns0:txBody>
      </ns0:sp>
      <ns0:pic>
        <ns0:nvPicPr>
          <ns0:cNvPr id="22" name="Equation: U=(\rho,\,\rho v,\,E)^{T} 22" descr="Equation: U=(\rho,\,\rho v,\,E)^{T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4630928"/>
            <ns0:ext cx="2742558" cy="45821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777240" y="5321808"/>
            <ns0:ext cx="4956048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ρ: density   v: velocity   E: total energy</ns0:t>
            </ns0:r>
            <ns0:endParaRPr lang="en-US" sz="150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6428232" y="3968496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Physical states must remain valid</ns0:t>
            </ns0:r>
            <ns0:endParaRPr lang="en-US" sz="2000"/>
          </ns0:p>
        </ns0:txBody>
      </ns0:sp>
      <ns0:pic>
        <ns0:nvPicPr>
          <ns0:cNvPr id="25" name="Equation: \rho&gt;0,\qquad p&gt;0 25" descr="Equation: \rho&gt;0,\qquad p&gt;0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28232" y="4690935"/>
            <ns0:ext cx="2830742" cy="338201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6428232" y="5321808"/>
            <ns0:ext cx="4956048" cy="2834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Density and pressure must remain positive.</ns0:t>
            </ns0:r>
            <ns0:endParaRPr lang="en-US" sz="1500"/>
          </ns0:p>
        </ns0:txBody>
      </ns0:sp>
      <ns0:sp>
        <ns0:nvSpPr>
          <ns0:cNvPr id="27" name="Panel 27"/>
          <ns0:cNvSpPr/>
          <ns0:nvPr/>
        </ns0:nvSpPr>
        <ns0:spPr>
          <ns0:xfrm xmlns:ns0="http://schemas.openxmlformats.org/drawingml/2006/main">
            <ns0:off x="548640" y="5980176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8" name="Text 28"/>
          <ns0:cNvSpPr/>
          <ns0:nvPr/>
        </ns0:nvSpPr>
        <ns0:spPr>
          <ns0:xfrm xmlns:ns0="http://schemas.openxmlformats.org/drawingml/2006/main">
            <ns0:off x="704088" y="5971032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Sod and Shu–Osher test the learned reconstruction in compressible Euler flows.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15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RESEARCH PROGRESSION · DIAGNOSE, THEN REPAIR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Euler instability shaped the training procedure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09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612648" y="1563624"/>
            <ns0:ext cx="5394960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What failed</ns0:t>
            </ns0:r>
            <ns0:endParaRPr lang="en-US" sz="2200"/>
          </ns0:p>
        </ns0:txBody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612648" y="2039112"/>
            <ns0:ext cx="5394960" cy="3200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Historical training trace—not the final benchmark runs.</ns0:t>
            </ns0:r>
            <ns0:endParaRPr lang="en-US" sz="1400"/>
          </ns0:p>
        </ns0:txBody>
      </ns0:sp>
      <ns0:pic>
        <ns0:nvPicPr>
          <ns0:cNvPr id="11" name="Historical Euler instability trace from models/euler_instability_trace.csv 11" descr="Historical Euler instability trace from models/euler_instability_trace.csv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48640" y="2593003"/>
            <ns0:ext cx="5513832" cy="2732697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685800" y="5413248"/>
            <ns0:ext cx="5303520" cy="5212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Invalid density or pressure destabilizes the</ns0:t>
            </ns0:r>
            <ns0:endParaRPr lang="en-US" sz="1550"/>
          </ns0:p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Roe characteristic reconstruction.</ns0:t>
            </ns0:r>
            <ns0:endParaRPr lang="en-US" sz="1550"/>
          </ns0:p>
        </ns0:txBody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428232" y="1563624"/>
            <ns0:ext cx="4974336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What changed</ns0:t>
            </ns0:r>
            <ns0:endParaRPr lang="en-US" sz="2200"/>
          </ns0:p>
        </ns0:txBody>
      </ns0:sp>
      <ns0:sp>
        <ns0:nvSpPr>
          <ns0:cNvPr id="14" name="Panel 14"/>
          <ns0:cNvSpPr/>
          <ns0:nvPr/>
        </ns0:nvSpPr>
        <ns0:spPr>
          <ns0:xfrm xmlns:ns0="http://schemas.openxmlformats.org/drawingml/2006/main">
            <ns0:off x="6281928" y="2112264"/>
            <ns0:ext cx="5349240" cy="7498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6446520" y="2231136"/>
            <ns0:ext cx="498348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01  Detect the real violation</ns0:t>
            </ns0:r>
            <ns0:endParaRPr lang="en-US" sz="175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6446520" y="2560320"/>
            <ns0:ext cx="4983480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Penalize invalid states before repair—not afterward.</ns0:t>
            </ns0:r>
            <ns0:endParaRPr lang="en-US" sz="1400"/>
          </ns0:p>
        </ns0:txBody>
      </ns0:sp>
      <ns0:sp>
        <ns0:nvSpPr>
          <ns0:cNvPr id="17" name="Panel 17"/>
          <ns0:cNvSpPr/>
          <ns0:nvPr/>
        </ns0:nvSpPr>
        <ns0:spPr>
          <ns0:xfrm xmlns:ns0="http://schemas.openxmlformats.org/drawingml/2006/main">
            <ns0:off x="6281928" y="2999232"/>
            <ns0:ext cx="5349240" cy="7498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446520" y="3118104"/>
            <ns0:ext cx="498348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02  Repair every SSPRK3 stage</ns0:t>
            </ns0:r>
            <ns0:endParaRPr lang="en-US" sz="175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6446520" y="3447288"/>
            <ns0:ext cx="4983480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Treat isolated violations; guard nonfinite states.</ns0:t>
            </ns0:r>
            <ns0:endParaRPr lang="en-US" sz="1400"/>
          </ns0:p>
        </ns0:txBody>
      </ns0:sp>
      <ns0:sp>
        <ns0:nvSpPr>
          <ns0:cNvPr id="20" name="Panel 20"/>
          <ns0:cNvSpPr/>
          <ns0:nvPr/>
        </ns0:nvSpPr>
        <ns0:spPr>
          <ns0:xfrm xmlns:ns0="http://schemas.openxmlformats.org/drawingml/2006/main">
            <ns0:off x="6281928" y="3886200"/>
            <ns0:ext cx="5349240" cy="7498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6446520" y="4005072"/>
            <ns0:ext cx="498348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03  Normalize and bound training</ns0:t>
            </ns0:r>
            <ns0:endParaRPr lang="en-US" sz="1750"/>
          </ns0:p>
        </ns0:txBody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6446520" y="4334256"/>
            <ns0:ext cx="4983480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Scale TV / Reg terms and clip large gradients.</ns0:t>
            </ns0:r>
            <ns0:endParaRPr lang="en-US" sz="1400"/>
          </ns0:p>
        </ns0:txBody>
      </ns0:sp>
      <ns0:sp>
        <ns0:nvSpPr>
          <ns0:cNvPr id="23" name="Panel 23"/>
          <ns0:cNvSpPr/>
          <ns0:nvPr/>
        </ns0:nvSpPr>
        <ns0:spPr>
          <ns0:xfrm xmlns:ns0="http://schemas.openxmlformats.org/drawingml/2006/main">
            <ns0:off x="6281928" y="4773168"/>
            <ns0:ext cx="5349240" cy="749808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6446520" y="4892040"/>
            <ns0:ext cx="4983480" cy="27432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04  Extend the horizon gradually</ns0:t>
            </ns0:r>
            <ns0:endParaRPr lang="en-US" sz="1750"/>
          </ns0:p>
        </ns0:txBody>
      </ns0:sp>
      <ns0:sp>
        <ns0:nvSpPr>
          <ns0:cNvPr id="25" name="Text 25"/>
          <ns0:cNvSpPr/>
          <ns0:nvPr/>
        </ns0:nvSpPr>
        <ns0:spPr>
          <ns0:xfrm xmlns:ns0="http://schemas.openxmlformats.org/drawingml/2006/main">
            <ns0:off x="6446520" y="5221224"/>
            <ns0:ext cx="4983480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Warm-start the Euler curriculum: K = 2 → 4 → 8 → 15.</ns0:t>
            </ns0:r>
            <ns0:endParaRPr lang="en-US" sz="1400"/>
          </ns0:p>
        </ns0:txBody>
      </ns0:sp>
      <ns0:sp>
        <ns0:nvSpPr>
          <ns0:cNvPr id="26" name="Panel 26"/>
          <ns0:cNvSpPr/>
          <ns0:nvPr/>
        </ns0:nvSpPr>
        <ns0:spPr>
          <ns0:xfrm xmlns:ns0="http://schemas.openxmlformats.org/drawingml/2006/main">
            <ns0:off x="548640" y="6016752"/>
            <ns0:ext cx="41148" cy="33832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242424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7" name="Text 27"/>
          <ns0:cNvSpPr/>
          <ns0:nvPr/>
        </ns0:nvSpPr>
        <ns0:spPr>
          <ns0:xfrm xmlns:ns0="http://schemas.openxmlformats.org/drawingml/2006/main">
            <ns0:off x="704088" y="6007608"/>
            <ns0:ext cx="10817352" cy="42976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6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Stable training enables evaluation; it does not by itself prove better accuracy.</ns0:t>
            </ns0:r>
            <ns0:endParaRPr lang="en-US" sz="1650"/>
          </ns0:p>
        </ns0:txBody>
      </ns0:sp>
    </ns0:spTree>
  </ns0:cSld>
  <ns0:clrMapOvr>
    <ns0:masterClrMapping xmlns:ns0="http://schemas.openxmlformats.org/drawingml/2006/main"/>
  </ns0:clrMapOvr>
</ns0:sld>
</file>

<file path=ppt/slides/slide16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RESULTS · BENCHMARK SUMMARY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Canonical benchmarks quantify the final gains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13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76072" y="1536192"/>
            <ns0:ext cx="10972800" cy="3749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Learned convex mixing compared with classical TENO5 on the same benchmark configuration.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121408"/>
            <ns0:ext cx="11082528" cy="51206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667512" y="2267712"/>
            <ns0:ext cx="1746504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1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BENCHMARK</ns0:t>
            </ns0:r>
            <ns0:endParaRPr lang="en-US" sz="125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2697480" y="2267712"/>
            <ns0:ext cx="1728216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1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ERROR METRIC</ns0:t>
            </ns0:r>
            <ns0:endParaRPr lang="en-US" sz="1250"/>
          </ns0:p>
        </ns0:txBody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4700016" y="2267712"/>
            <ns0:ext cx="1563624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1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TENO5</ns0:t>
            </ns0:r>
            <ns0:endParaRPr lang="en-US" sz="1250"/>
          </ns0:p>
        </ns0:txBody>
      </ns0:sp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6547104" y="2267712"/>
            <ns0:ext cx="1609344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1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NN-TENO5</ns0:t>
            </ns0:r>
            <ns0:endParaRPr lang="en-US" sz="1250"/>
          </ns0:p>
        </ns0:txBody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8439912" y="2267712"/>
            <ns0:ext cx="914400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1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RATIO R</ns0:t>
            </ns0:r>
            <ns0:endParaRPr lang="en-US" sz="125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9646920" y="2267712"/>
            <ns0:ext cx="1911096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1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CHANGE IN ERROR</ns0:t>
            </ns0:r>
            <ns0:endParaRPr lang="en-US" sz="1250"/>
          </ns0:p>
        </ns0:txBody>
      </ns0:sp>
      <ns0:sp>
        <ns0:nvSpPr>
          <ns0:cNvPr id="17" name="Panel 17"/>
          <ns0:cNvSpPr/>
          <ns0:nvPr/>
        </ns0:nvSpPr>
        <ns0:spPr>
          <ns0:xfrm xmlns:ns0="http://schemas.openxmlformats.org/drawingml/2006/main">
            <ns0:off x="548640" y="2724912"/>
            <ns0:ext cx="11082528" cy="59436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67512" y="2880360"/>
            <ns0:ext cx="174650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Advection</ns0:t>
            </ns0:r>
            <ns0:endParaRPr lang="en-US" sz="1700"/>
          </ns0:p>
        </ns0:txBody>
      </ns0:sp>
      <ns0:sp>
        <ns0:nvSpPr>
          <ns0:cNvPr id="19" name="Text 19"/>
          <ns0:cNvSpPr/>
          <ns0:nvPr/>
        </ns0:nvSpPr>
        <ns0:spPr>
          <ns0:xfrm xmlns:ns0="http://schemas.openxmlformats.org/drawingml/2006/main">
            <ns0:off x="2697480" y="2880360"/>
            <ns0:ext cx="172821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Scalar L₂</ns0:t>
            </ns0:r>
            <ns0:endParaRPr lang="en-US" sz="1550"/>
          </ns0:p>
        </ns0:txBody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4700016" y="2880360"/>
            <ns0:ext cx="156362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9.8960 × 10⁻²</ns0:t>
            </ns0:r>
            <ns0:endParaRPr lang="en-US" sz="155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6547104" y="2880360"/>
            <ns0:ext cx="160934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9.5521 × 10⁻²</ns0:t>
            </ns0:r>
            <ns0:endParaRPr lang="en-US" sz="1550"/>
          </ns0:p>
        </ns0:txBody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8439912" y="2880360"/>
            <ns0:ext cx="91440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0.9653</ns0:t>
            </ns0:r>
            <ns0:endParaRPr lang="en-US" sz="1550"/>
          </ns0:p>
        </ns0:txBody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9646920" y="2880360"/>
            <ns0:ext cx="191109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-3.47%</ns0:t>
            </ns0:r>
            <ns0:endParaRPr lang="en-US" sz="1700"/>
          </ns0:p>
        </ns0:txBody>
      </ns0:sp>
      <ns0:sp>
        <ns0:nvSpPr>
          <ns0:cNvPr id="24" name="Panel 24"/>
          <ns0:cNvSpPr/>
          <ns0:nvPr/>
        </ns0:nvSpPr>
        <ns0:spPr>
          <ns0:xfrm xmlns:ns0="http://schemas.openxmlformats.org/drawingml/2006/main">
            <ns0:off x="548640" y="3355848"/>
            <ns0:ext cx="11082528" cy="1005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5" name="Text 25"/>
          <ns0:cNvSpPr/>
          <ns0:nvPr/>
        </ns0:nvSpPr>
        <ns0:spPr>
          <ns0:xfrm xmlns:ns0="http://schemas.openxmlformats.org/drawingml/2006/main">
            <ns0:off x="667512" y="3547872"/>
            <ns0:ext cx="174650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Burgers</ns0:t>
            </ns0:r>
            <ns0:endParaRPr lang="en-US" sz="1700"/>
          </ns0:p>
        </ns0:txBody>
      </ns0:sp>
      <ns0:sp>
        <ns0:nvSpPr>
          <ns0:cNvPr id="26" name="Text 26"/>
          <ns0:cNvSpPr/>
          <ns0:nvPr/>
        </ns0:nvSpPr>
        <ns0:spPr>
          <ns0:xfrm xmlns:ns0="http://schemas.openxmlformats.org/drawingml/2006/main">
            <ns0:off x="2697480" y="3547872"/>
            <ns0:ext cx="172821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Scalar L₂</ns0:t>
            </ns0:r>
            <ns0:endParaRPr lang="en-US" sz="1550"/>
          </ns0:p>
        </ns0:txBody>
      </ns0:sp>
      <ns0:sp>
        <ns0:nvSpPr>
          <ns0:cNvPr id="27" name="Text 27"/>
          <ns0:cNvSpPr/>
          <ns0:nvPr/>
        </ns0:nvSpPr>
        <ns0:spPr>
          <ns0:xfrm xmlns:ns0="http://schemas.openxmlformats.org/drawingml/2006/main">
            <ns0:off x="4700016" y="3547872"/>
            <ns0:ext cx="156362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8.1670 × 10⁻⁴</ns0:t>
            </ns0:r>
            <ns0:endParaRPr lang="en-US" sz="1550"/>
          </ns0:p>
        </ns0:txBody>
      </ns0:sp>
      <ns0:sp>
        <ns0:nvSpPr>
          <ns0:cNvPr id="28" name="Text 28"/>
          <ns0:cNvSpPr/>
          <ns0:nvPr/>
        </ns0:nvSpPr>
        <ns0:spPr>
          <ns0:xfrm xmlns:ns0="http://schemas.openxmlformats.org/drawingml/2006/main">
            <ns0:off x="6547104" y="3547872"/>
            <ns0:ext cx="160934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6.6493 × 10⁻⁴</ns0:t>
            </ns0:r>
            <ns0:endParaRPr lang="en-US" sz="1550"/>
          </ns0:p>
        </ns0:txBody>
      </ns0:sp>
      <ns0:sp>
        <ns0:nvSpPr>
          <ns0:cNvPr id="29" name="Text 29"/>
          <ns0:cNvSpPr/>
          <ns0:nvPr/>
        </ns0:nvSpPr>
        <ns0:spPr>
          <ns0:xfrm xmlns:ns0="http://schemas.openxmlformats.org/drawingml/2006/main">
            <ns0:off x="8439912" y="3547872"/>
            <ns0:ext cx="91440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0.8142</ns0:t>
            </ns0:r>
            <ns0:endParaRPr lang="en-US" sz="1550"/>
          </ns0:p>
        </ns0:txBody>
      </ns0:sp>
      <ns0:sp>
        <ns0:nvSpPr>
          <ns0:cNvPr id="30" name="Text 30"/>
          <ns0:cNvSpPr/>
          <ns0:nvPr/>
        </ns0:nvSpPr>
        <ns0:spPr>
          <ns0:xfrm xmlns:ns0="http://schemas.openxmlformats.org/drawingml/2006/main">
            <ns0:off x="9646920" y="3547872"/>
            <ns0:ext cx="191109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-18.58%</ns0:t>
            </ns0:r>
            <ns0:endParaRPr lang="en-US" sz="1700"/>
          </ns0:p>
        </ns0:txBody>
      </ns0:sp>
      <ns0:sp>
        <ns0:nvSpPr>
          <ns0:cNvPr id="31" name="Panel 31"/>
          <ns0:cNvSpPr/>
          <ns0:nvPr/>
        </ns0:nvSpPr>
        <ns0:spPr>
          <ns0:xfrm xmlns:ns0="http://schemas.openxmlformats.org/drawingml/2006/main">
            <ns0:off x="548640" y="4023360"/>
            <ns0:ext cx="11082528" cy="1005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2" name="Panel 32"/>
          <ns0:cNvSpPr/>
          <ns0:nvPr/>
        </ns0:nvSpPr>
        <ns0:spPr>
          <ns0:xfrm xmlns:ns0="http://schemas.openxmlformats.org/drawingml/2006/main">
            <ns0:off x="548640" y="4059936"/>
            <ns0:ext cx="11082528" cy="594360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3" name="Text 33"/>
          <ns0:cNvSpPr/>
          <ns0:nvPr/>
        </ns0:nvSpPr>
        <ns0:spPr>
          <ns0:xfrm xmlns:ns0="http://schemas.openxmlformats.org/drawingml/2006/main">
            <ns0:off x="667512" y="4215384"/>
            <ns0:ext cx="174650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Sod</ns0:t>
            </ns0:r>
            <ns0:endParaRPr lang="en-US" sz="1700"/>
          </ns0:p>
        </ns0:txBody>
      </ns0:sp>
      <ns0:sp>
        <ns0:nvSpPr>
          <ns0:cNvPr id="34" name="Text 34"/>
          <ns0:cNvSpPr/>
          <ns0:nvPr/>
        </ns0:nvSpPr>
        <ns0:spPr>
          <ns0:xfrm xmlns:ns0="http://schemas.openxmlformats.org/drawingml/2006/main">
            <ns0:off x="2697480" y="4215384"/>
            <ns0:ext cx="172821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Mean Euler L₁</ns0:t>
            </ns0:r>
            <ns0:endParaRPr lang="en-US" sz="1550"/>
          </ns0:p>
        </ns0:txBody>
      </ns0:sp>
      <ns0:sp>
        <ns0:nvSpPr>
          <ns0:cNvPr id="35" name="Text 35"/>
          <ns0:cNvSpPr/>
          <ns0:nvPr/>
        </ns0:nvSpPr>
        <ns0:spPr>
          <ns0:xfrm xmlns:ns0="http://schemas.openxmlformats.org/drawingml/2006/main">
            <ns0:off x="4700016" y="4215384"/>
            <ns0:ext cx="156362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8.2583 × 10⁻³</ns0:t>
            </ns0:r>
            <ns0:endParaRPr lang="en-US" sz="1550"/>
          </ns0:p>
        </ns0:txBody>
      </ns0:sp>
      <ns0:sp>
        <ns0:nvSpPr>
          <ns0:cNvPr id="36" name="Text 36"/>
          <ns0:cNvSpPr/>
          <ns0:nvPr/>
        </ns0:nvSpPr>
        <ns0:spPr>
          <ns0:xfrm xmlns:ns0="http://schemas.openxmlformats.org/drawingml/2006/main">
            <ns0:off x="6547104" y="4215384"/>
            <ns0:ext cx="160934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B91C1C"/>
                </ns0:solidFill>
                <ns0:latin typeface="Arial"/>
                <ns0:ea typeface="Arial"/>
                <ns0:cs typeface="Arial"/>
              </ns0:rPr>
              <ns0:t>8.2871 × 10⁻³</ns0:t>
            </ns0:r>
            <ns0:endParaRPr lang="en-US" sz="1550"/>
          </ns0:p>
        </ns0:txBody>
      </ns0:sp>
      <ns0:sp>
        <ns0:nvSpPr>
          <ns0:cNvPr id="37" name="Text 37"/>
          <ns0:cNvSpPr/>
          <ns0:nvPr/>
        </ns0:nvSpPr>
        <ns0:spPr>
          <ns0:xfrm xmlns:ns0="http://schemas.openxmlformats.org/drawingml/2006/main">
            <ns0:off x="8439912" y="4215384"/>
            <ns0:ext cx="91440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B91C1C"/>
                </ns0:solidFill>
                <ns0:latin typeface="Arial"/>
                <ns0:ea typeface="Arial"/>
                <ns0:cs typeface="Arial"/>
              </ns0:rPr>
              <ns0:t>1.0035</ns0:t>
            </ns0:r>
            <ns0:endParaRPr lang="en-US" sz="1550"/>
          </ns0:p>
        </ns0:txBody>
      </ns0:sp>
      <ns0:sp>
        <ns0:nvSpPr>
          <ns0:cNvPr id="38" name="Text 38"/>
          <ns0:cNvSpPr/>
          <ns0:nvPr/>
        </ns0:nvSpPr>
        <ns0:spPr>
          <ns0:xfrm xmlns:ns0="http://schemas.openxmlformats.org/drawingml/2006/main">
            <ns0:off x="9646920" y="4215384"/>
            <ns0:ext cx="191109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B91C1C"/>
                </ns0:solidFill>
                <ns0:latin typeface="Arial"/>
                <ns0:ea typeface="Arial"/>
                <ns0:cs typeface="Arial"/>
              </ns0:rPr>
              <ns0:t>+0.35%</ns0:t>
            </ns0:r>
            <ns0:endParaRPr lang="en-US" sz="1700"/>
          </ns0:p>
        </ns0:txBody>
      </ns0:sp>
      <ns0:sp>
        <ns0:nvSpPr>
          <ns0:cNvPr id="39" name="Panel 39"/>
          <ns0:cNvSpPr/>
          <ns0:nvPr/>
        </ns0:nvSpPr>
        <ns0:spPr>
          <ns0:xfrm xmlns:ns0="http://schemas.openxmlformats.org/drawingml/2006/main">
            <ns0:off x="548640" y="4690872"/>
            <ns0:ext cx="11082528" cy="1005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40" name="Text 40"/>
          <ns0:cNvSpPr/>
          <ns0:nvPr/>
        </ns0:nvSpPr>
        <ns0:spPr>
          <ns0:xfrm xmlns:ns0="http://schemas.openxmlformats.org/drawingml/2006/main">
            <ns0:off x="667512" y="4882896"/>
            <ns0:ext cx="174650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Shu–Osher</ns0:t>
            </ns0:r>
            <ns0:endParaRPr lang="en-US" sz="1700"/>
          </ns0:p>
        </ns0:txBody>
      </ns0:sp>
      <ns0:sp>
        <ns0:nvSpPr>
          <ns0:cNvPr id="41" name="Text 41"/>
          <ns0:cNvSpPr/>
          <ns0:nvPr/>
        </ns0:nvSpPr>
        <ns0:spPr>
          <ns0:xfrm xmlns:ns0="http://schemas.openxmlformats.org/drawingml/2006/main">
            <ns0:off x="2697480" y="4882896"/>
            <ns0:ext cx="172821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Mean Euler L₁</ns0:t>
            </ns0:r>
            <ns0:endParaRPr lang="en-US" sz="1550"/>
          </ns0:p>
        </ns0:txBody>
      </ns0:sp>
      <ns0:sp>
        <ns0:nvSpPr>
          <ns0:cNvPr id="42" name="Text 42"/>
          <ns0:cNvSpPr/>
          <ns0:nvPr/>
        </ns0:nvSpPr>
        <ns0:spPr>
          <ns0:xfrm xmlns:ns0="http://schemas.openxmlformats.org/drawingml/2006/main">
            <ns0:off x="4700016" y="4882896"/>
            <ns0:ext cx="156362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2.1319 × 10⁻¹</ns0:t>
            </ns0:r>
            <ns0:endParaRPr lang="en-US" sz="1550"/>
          </ns0:p>
        </ns0:txBody>
      </ns0:sp>
      <ns0:sp>
        <ns0:nvSpPr>
          <ns0:cNvPr id="43" name="Text 43"/>
          <ns0:cNvSpPr/>
          <ns0:nvPr/>
        </ns0:nvSpPr>
        <ns0:spPr>
          <ns0:xfrm xmlns:ns0="http://schemas.openxmlformats.org/drawingml/2006/main">
            <ns0:off x="6547104" y="4882896"/>
            <ns0:ext cx="160934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2.0926 × 10⁻¹</ns0:t>
            </ns0:r>
            <ns0:endParaRPr lang="en-US" sz="1550"/>
          </ns0:p>
        </ns0:txBody>
      </ns0:sp>
      <ns0:sp>
        <ns0:nvSpPr>
          <ns0:cNvPr id="44" name="Text 44"/>
          <ns0:cNvSpPr/>
          <ns0:nvPr/>
        </ns0:nvSpPr>
        <ns0:spPr>
          <ns0:xfrm xmlns:ns0="http://schemas.openxmlformats.org/drawingml/2006/main">
            <ns0:off x="8439912" y="4882896"/>
            <ns0:ext cx="914400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50" b="0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0.9816</ns0:t>
            </ns0:r>
            <ns0:endParaRPr lang="en-US" sz="1550"/>
          </ns0:p>
        </ns0:txBody>
      </ns0:sp>
      <ns0:sp>
        <ns0:nvSpPr>
          <ns0:cNvPr id="45" name="Text 45"/>
          <ns0:cNvSpPr/>
          <ns0:nvPr/>
        </ns0:nvSpPr>
        <ns0:spPr>
          <ns0:xfrm xmlns:ns0="http://schemas.openxmlformats.org/drawingml/2006/main">
            <ns0:off x="9646920" y="4882896"/>
            <ns0:ext cx="1911096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1" dirty="0">
                <ns0:solidFill>
                  <ns0:srgbClr val="15803D"/>
                </ns0:solidFill>
                <ns0:latin typeface="Arial"/>
                <ns0:ea typeface="Arial"/>
                <ns0:cs typeface="Arial"/>
              </ns0:rPr>
              <ns0:t>-1.84%</ns0:t>
            </ns0:r>
            <ns0:endParaRPr lang="en-US" sz="1700"/>
          </ns0:p>
        </ns0:txBody>
      </ns0:sp>
      <ns0:sp>
        <ns0:nvSpPr>
          <ns0:cNvPr id="46" name="Panel 46"/>
          <ns0:cNvSpPr/>
          <ns0:nvPr/>
        </ns0:nvSpPr>
        <ns0:spPr>
          <ns0:xfrm xmlns:ns0="http://schemas.openxmlformats.org/drawingml/2006/main">
            <ns0:off x="548640" y="5358384"/>
            <ns0:ext cx="11082528" cy="10058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pic>
        <ns0:nvPicPr>
          <ns0:cNvPr id="47" name="Equation: R=\frac{\mathrm{error}_{\mathrm{NN}}}{\mathrm{error}_{\mathrm{TENO5}}},\qquad \mathrm{gain}(\%)=100(1-R) 47" descr="Equation: R=\frac{\mathrm{error}_{\mathrm{NN}}}{\mathrm{error}_{\mathrm{TENO5}}},\qquad \mathrm{gain}(\%)=100(1-R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94944" y="5486400"/>
            <ns0:ext cx="4433132" cy="493776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48" name="Text 48"/>
          <ns0:cNvSpPr/>
          <ns0:nvPr/>
        </ns0:nvSpPr>
        <ns0:spPr>
          <ns0:xfrm xmlns:ns0="http://schemas.openxmlformats.org/drawingml/2006/main">
            <ns0:off x="694944" y="6025896"/>
            <ns0:ext cx="10863072" cy="2103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Green: lower error. Red: higher error. Euler: mean L₁ over (ρ, ρv, E). Scalar: L₂.</ns0:t>
            </ns0:r>
            <ns0:endParaRPr lang="en-US" sz="1200"/>
          </ns0:p>
        </ns0:txBody>
      </ns0:sp>
      <ns0:sp>
        <ns0:nvSpPr>
          <ns0:cNvPr id="49" name="Text 49"/>
          <ns0:cNvSpPr/>
          <ns0:nvPr/>
        </ns0:nvSpPr>
        <ns0:spPr>
          <ns0:xfrm xmlns:ns0="http://schemas.openxmlformats.org/drawingml/2006/main">
            <ns0:off x="694944" y="6263640"/>
            <ns0:ext cx="10863072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1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Scope: four 1D cases at fixed grids—not a convergence study or a controlled runtime comparison.</ns0:t>
            </ns0:r>
            <ns0:endParaRPr lang="en-US" sz="1100"/>
          </ns0:p>
        </ns0:txBody>
      </ns0:sp>
    </ns0:spTree>
  </ns0:cSld>
  <ns0:clrMapOvr>
    <ns0:masterClrMapping xmlns:ns0="http://schemas.openxmlformats.org/drawingml/2006/main"/>
  </ns0:clrMapOvr>
</ns0:sld>
</file>

<file path=ppt/slides/slide17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Panel 2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4" name="Text 4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16 / 16</ns0:t>
            </ns0:r>
            <ns0:endParaRPr lang="en-US" sz="1000"/>
          </ns0:p>
        </ns0:txBody>
      </ns0:sp>
      <ns0:pic>
        <ns0:nvPicPr>
          <ns0:cNvPr id="5" name="UM6P College of Computing logo 5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94360" y="2432304"/>
            <ns0:ext cx="11000232" cy="85039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48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Thank you</ns0:t>
            </ns0:r>
            <ns0:endParaRPr lang="en-US" sz="4800"/>
          </ns0:p>
        </ns0:txBody>
      </ns0:sp>
      <ns0:sp>
        <ns0:nvSpPr>
          <ns0:cNvPr id="7" name="Panel 7"/>
          <ns0:cNvSpPr/>
          <ns0:nvPr/>
        </ns0:nvSpPr>
        <ns0:spPr>
          <ns0:xfrm xmlns:ns0="http://schemas.openxmlformats.org/drawingml/2006/main">
            <ns0:off x="5586984" y="3502152"/>
            <ns0:ext cx="1014984" cy="24689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8" name="Text 8"/>
          <ns0:cNvSpPr/>
          <ns0:nvPr/>
        </ns0:nvSpPr>
        <ns0:spPr>
          <ns0:xfrm xmlns:ns0="http://schemas.openxmlformats.org/drawingml/2006/main">
            <ns0:off x="594360" y="3785616"/>
            <ns0:ext cx="11000232" cy="4389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2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Questions &amp; discussion</ns0:t>
            </ns0:r>
            <ns0:endParaRPr lang="en-US" sz="2200"/>
          </ns0:p>
        </ns0:txBody>
      </ns0:sp>
    </ns0:spTree>
  </ns0:cSld>
  <ns0:clrMapOvr>
    <ns0:masterClrMapping xmlns:ns0="http://schemas.openxmlformats.org/drawingml/2006/main"/>
  </ns0:clrMapOvr>
</ns0:sld>
</file>

<file path=ppt/slides/slide18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ACADEMIC GROUNDING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Selected references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15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Panel 9"/>
          <ns0:cNvSpPr/>
          <ns0:nvPr/>
        </ns0:nvSpPr>
        <ns0:spPr>
          <ns0:xfrm xmlns:ns0="http://schemas.openxmlformats.org/drawingml/2006/main">
            <ns0:off x="548640" y="1645920"/>
            <ns0:ext cx="11082528" cy="121615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0" name="Text 10"/>
          <ns0:cNvSpPr/>
          <ns0:nvPr/>
        </ns0:nvSpPr>
        <ns0:spPr>
          <ns0:xfrm xmlns:ns0="http://schemas.openxmlformats.org/drawingml/2006/main">
            <ns0:off x="786384" y="1801368"/>
            <ns0:ext cx="1056132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Stevens &amp; Colonius · 2020</ns0:t>
            </ns0:r>
            <ns0:endParaRPr lang="en-US" sz="2100"/>
          </ns0:p>
        </ns0:txBody>
      </ns0:sp>
      <ns0:sp>
        <ns0:nvSpPr>
          <ns0:cNvPr id="11" name="Text 11"/>
          <ns0:cNvSpPr/>
          <ns0:nvPr/>
        </ns0:nvSpPr>
        <ns0:spPr>
          <ns0:xfrm xmlns:ns0="http://schemas.openxmlformats.org/drawingml/2006/main">
            <ns0:off x="786384" y="2240280"/>
            <ns0:ext cx="1056132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Enhancement of shock-capturing methods via machine learning.</ns0:t>
            </ns0:r>
            <ns0:endParaRPr lang="en-US" sz="1700"/>
          </ns0:p>
        </ns0:txBody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786384" y="2606040"/>
            <ns0:ext cx="5733288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Theoretical and Computational Fluid Dynamics, 34, 483–496.</ns0:t>
            </ns0:r>
            <ns0:endParaRPr lang="en-US" sz="1200"/>
          </ns0:p>
        </ns0:txBody>
      </ns0:sp>
      <ns0:sp>
        <ns0:nvSpPr>
          <ns0:cNvPr id="13" name="Text 13"/>
          <ns0:cNvSpPr/>
          <ns0:nvPr/>
        </ns0:nvSpPr>
        <ns0:spPr>
          <ns0:xfrm xmlns:ns0="http://schemas.openxmlformats.org/drawingml/2006/main">
            <ns0:off x="6766560" y="2606040"/>
            <ns0:ext cx="457200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  <ns0:hlinkClick xmlns:ns2="http://schemas.openxmlformats.org/officeDocument/2006/relationships" ns2:id="rId22"/>
              </ns0:rPr>
              <ns0:t>DOI: 10.1007/s00162-020-00531-1</ns0:t>
            </ns0:r>
            <ns0:endParaRPr lang="en-US" sz="1200"/>
          </ns0:p>
        </ns0:txBody>
      </ns0:sp>
      <ns0:sp>
        <ns0:nvSpPr>
          <ns0:cNvPr id="14" name="Panel 14"/>
          <ns0:cNvSpPr/>
          <ns0:nvPr/>
        </ns0:nvSpPr>
        <ns0:spPr>
          <ns0:xfrm xmlns:ns0="http://schemas.openxmlformats.org/drawingml/2006/main">
            <ns0:off x="548640" y="3035808"/>
            <ns0:ext cx="11082528" cy="121615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5" name="Text 15"/>
          <ns0:cNvSpPr/>
          <ns0:nvPr/>
        </ns0:nvSpPr>
        <ns0:spPr>
          <ns0:xfrm xmlns:ns0="http://schemas.openxmlformats.org/drawingml/2006/main">
            <ns0:off x="786384" y="3191256"/>
            <ns0:ext cx="1056132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Fu, Hu &amp; Adams · 2016</ns0:t>
            </ns0:r>
            <ns0:endParaRPr lang="en-US" sz="2100"/>
          </ns0:p>
        </ns0:txBody>
      </ns0:sp>
      <ns0:sp>
        <ns0:nvSpPr>
          <ns0:cNvPr id="16" name="Text 16"/>
          <ns0:cNvSpPr/>
          <ns0:nvPr/>
        </ns0:nvSpPr>
        <ns0:spPr>
          <ns0:xfrm xmlns:ns0="http://schemas.openxmlformats.org/drawingml/2006/main">
            <ns0:off x="786384" y="3630168"/>
            <ns0:ext cx="1056132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A family of high-order targeted ENO schemes for compressible-fluid simulations.</ns0:t>
            </ns0:r>
            <ns0:endParaRPr lang="en-US" sz="1700"/>
          </ns0:p>
        </ns0:txBody>
      </ns0:sp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786384" y="3995928"/>
            <ns0:ext cx="5733288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Journal of Computational Physics, 305, 333–359.</ns0:t>
            </ns0:r>
            <ns0:endParaRPr lang="en-US" sz="12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766560" y="3995928"/>
            <ns0:ext cx="457200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  <ns0:hlinkClick xmlns:ns3="http://schemas.openxmlformats.org/officeDocument/2006/relationships" ns3:id="rId23"/>
              </ns0:rPr>
              <ns0:t>DOI: 10.1016/j.jcp.2015.10.037</ns0:t>
            </ns0:r>
            <ns0:endParaRPr lang="en-US" sz="1200"/>
          </ns0:p>
        </ns0:txBody>
      </ns0:sp>
      <ns0:sp>
        <ns0:nvSpPr>
          <ns0:cNvPr id="19" name="Panel 19"/>
          <ns0:cNvSpPr/>
          <ns0:nvPr/>
        </ns0:nvSpPr>
        <ns0:spPr>
          <ns0:xfrm xmlns:ns0="http://schemas.openxmlformats.org/drawingml/2006/main">
            <ns0:off x="548640" y="4425696"/>
            <ns0:ext cx="11082528" cy="1216152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786384" y="4581144"/>
            <ns0:ext cx="1056132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1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Li, Fu &amp; Adams · 2022</ns0:t>
            </ns0:r>
            <ns0:endParaRPr lang="en-US" sz="2100"/>
          </ns0:p>
        </ns0:txBody>
      </ns0:sp>
      <ns0:sp>
        <ns0:nvSpPr>
          <ns0:cNvPr id="21" name="Text 21"/>
          <ns0:cNvSpPr/>
          <ns0:nvPr/>
        </ns0:nvSpPr>
        <ns0:spPr>
          <ns0:xfrm xmlns:ns0="http://schemas.openxmlformats.org/drawingml/2006/main">
            <ns0:off x="786384" y="5020056"/>
            <ns0:ext cx="10561320" cy="3017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700" b="0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A six-point neuron-based ENO (NENO6) scheme for compressible fluid dynamics.</ns0:t>
            </ns0:r>
            <ns0:endParaRPr lang="en-US" sz="1700"/>
          </ns0:p>
        </ns0:txBody>
      </ns0:sp>
      <ns0:sp>
        <ns0:nvSpPr>
          <ns0:cNvPr id="22" name="Text 22"/>
          <ns0:cNvSpPr/>
          <ns0:nvPr/>
        </ns0:nvSpPr>
        <ns0:spPr>
          <ns0:xfrm xmlns:ns0="http://schemas.openxmlformats.org/drawingml/2006/main">
            <ns0:off x="786384" y="5385816"/>
            <ns0:ext cx="5733288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arXiv preprint 2207.08500.</ns0:t>
            </ns0:r>
            <ns0:endParaRPr lang="en-US" sz="1200"/>
          </ns0:p>
        </ns0:txBody>
      </ns0:sp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6766560" y="5385816"/>
            <ns0:ext cx="457200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00" b="0" dirty="0">
                <ns0:solidFill>
                  <ns0:srgbClr val="595959"/>
                </ns0:solidFill>
                <ns0:latin typeface="Arial"/>
                <ns0:ea typeface="Arial"/>
                <ns0:cs typeface="Arial"/>
                <ns0:hlinkClick xmlns:ns4="http://schemas.openxmlformats.org/officeDocument/2006/relationships" ns4:id="rId24"/>
              </ns0:rPr>
              <ns0:t>arXiv: 2207.08500</ns0:t>
            </ns0:r>
            <ns0:endParaRPr lang="en-US" sz="120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649224" y="5989320"/>
            <ns0:ext cx="10917936" cy="31089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4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Related foundations: NENO6 uses six stencil points; the model presented here uses five.</ns0:t>
            </ns0:r>
            <ns0:endParaRPr lang="en-US" sz="1400"/>
          </ns0:p>
        </ns0:txBody>
      </ns0:sp>
    </ns0:spTree>
  </ns0:cSld>
  <ns0:clrMapOvr>
    <ns0:masterClrMapping xmlns:ns0="http://schemas.openxmlformats.org/drawingml/2006/main"/>
  </ns0:clrMapOvr>
</ns0:sld>
</file>

<file path=ppt/slides/slide19.xml><?xml version="1.0" encoding="utf-8"?>
<ns0:sld xmlns:ns0="http://schemas.openxmlformats.org/presentationml/2006/main" showMasterSp="0">
  <ns0:cSld>
    <ns0:bg>
      <ns0:bgPr>
        <ns0:solidFill xmlns:ns0="http://schemas.openxmlformats.org/drawingml/2006/main">
          <ns0:srgbClr val="FFFFFF"/>
        </ns0:solidFill>
        <ns0:effectLst xmlns:ns0="http://schemas.openxmlformats.org/drawingml/2006/main"/>
      </ns0:bgPr>
    </ns0:bg>
    <ns0:spTree>
      <ns0:nvGrpSpPr>
        <ns0:cNvPr id="1" name=""/>
        <ns0:cNvGrpSpPr/>
        <ns0:nvPr/>
      </ns0:nvGrpSpPr>
      <ns0:grpSpPr/>
      <ns0:sp>
        <ns0:nvSpPr>
          <ns0:cNvPr id="2" name="Text 2"/>
          <ns0:cNvSpPr/>
          <ns0:nvPr/>
        </ns0:nvSpPr>
        <ns0:spPr>
          <ns0:xfrm xmlns:ns0="http://schemas.openxmlformats.org/drawingml/2006/main">
            <ns0:off x="548640" y="274320"/>
            <ns0:ext cx="9966960" cy="2194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5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NUMERICAL IMPLEMENTATION · ORDERED SOLVER STEPS</ns0:t>
            </ns0:r>
            <ns0:endParaRPr lang="en-US" sz="1050"/>
          </ns0:p>
        </ns0:txBody>
      </ns0:sp>
      <ns0:sp>
        <ns0:nvSpPr>
          <ns0:cNvPr id="3" name="Text 3"/>
          <ns0:cNvSpPr/>
          <ns0:nvPr/>
        </ns0:nvSpPr>
        <ns0:spPr>
          <ns0:xfrm xmlns:ns0="http://schemas.openxmlformats.org/drawingml/2006/main">
            <ns0:off x="548640" y="713232"/>
            <ns0:ext cx="11018520" cy="53035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7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Build the interface flux, then advance with RK3</ns0:t>
            </ns0:r>
            <ns0:endParaRPr lang="en-US" sz="2900"/>
          </ns0:p>
        </ns0:txBody>
      </ns0:sp>
      <ns0:sp>
        <ns0:nvSpPr>
          <ns0:cNvPr id="4" name="Panel 4"/>
          <ns0:cNvSpPr/>
          <ns0:nvPr/>
        </ns0:nvSpPr>
        <ns0:spPr>
          <ns0:xfrm xmlns:ns0="http://schemas.openxmlformats.org/drawingml/2006/main">
            <ns0:off x="548640" y="1307592"/>
            <ns0:ext cx="11064240" cy="13716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5" name="Panel 5"/>
          <ns0:cNvSpPr/>
          <ns0:nvPr/>
        </ns0:nvSpPr>
        <ns0:spPr>
          <ns0:xfrm xmlns:ns0="http://schemas.openxmlformats.org/drawingml/2006/main">
            <ns0:off x="548640" y="6428232"/>
            <ns0:ext cx="11064240" cy="10973"/>
          </ns0:xfrm>
          <ns0:prstGeom xmlns:ns0="http://schemas.openxmlformats.org/drawingml/2006/main" prst="rect">
            <ns0:avLst/>
          </ns0:prstGeom>
          <ns0:solidFill xmlns:ns0="http://schemas.openxmlformats.org/drawingml/2006/main">
            <ns0:srgbClr val="DEDEDE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6" name="Text 6"/>
          <ns0:cNvSpPr/>
          <ns0:nvPr/>
        </ns0:nvSpPr>
        <ns0:spPr>
          <ns0:xfrm xmlns:ns0="http://schemas.openxmlformats.org/drawingml/2006/main">
            <ns0:off x="548640" y="6537960"/>
            <ns0:ext cx="6583680" cy="18288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9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SHOCKS &amp; WENO   /   YASSER BAOUZIL</ns0:t>
            </ns0:r>
            <ns0:endParaRPr lang="en-US" sz="900"/>
          </ns0:p>
        </ns0:txBody>
      </ns0:sp>
      <ns0:sp>
        <ns0:nvSpPr>
          <ns0:cNvPr id="7" name="Text 7"/>
          <ns0:cNvSpPr/>
          <ns0:nvPr/>
        </ns0:nvSpPr>
        <ns0:spPr>
          <ns0:xfrm xmlns:ns0="http://schemas.openxmlformats.org/drawingml/2006/main">
            <ns0:off x="10607040" y="6510528"/>
            <ns0:ext cx="1005840" cy="23774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0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07 / 16</ns0:t>
            </ns0:r>
            <ns0:endParaRPr lang="en-US" sz="1000"/>
          </ns0:p>
        </ns0:txBody>
      </ns0:sp>
      <ns0:pic>
        <ns0:nvPicPr>
          <ns0:cNvPr id="8" name="UM6P College of Computing logo 8" descr="UM6P College of Computing logo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1="http://schemas.openxmlformats.org/officeDocument/2006/relationships" ns1:embed="rId21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726721" y="6510528"/>
            <ns0:ext cx="1200317" cy="246888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9" name="Text 9"/>
          <ns0:cNvSpPr/>
          <ns0:nvPr/>
        </ns0:nvSpPr>
        <ns0:spPr>
          <ns0:xfrm xmlns:ns0="http://schemas.openxmlformats.org/drawingml/2006/main">
            <ns0:off x="576072" y="1545336"/>
            <ns0:ext cx="10972800" cy="35661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8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Flux splitting → WENO / TENO or NN reconstruction → interface flux → SSPRK3 → K-step rollout.</ns0:t>
            </ns0:r>
            <ns0:endParaRPr lang="en-US" sz="1800"/>
          </ns0:p>
        </ns0:txBody>
      </ns0:sp>
      <ns0:sp>
        <ns0:nvSpPr>
          <ns0:cNvPr id="10" name="Panel 10"/>
          <ns0:cNvSpPr/>
          <ns0:nvPr/>
        </ns0:nvSpPr>
        <ns0:spPr>
          <ns0:xfrm xmlns:ns0="http://schemas.openxmlformats.org/drawingml/2006/main">
            <ns0:off x="548640" y="2075688"/>
            <ns0:ext cx="5422392" cy="362102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1" name="Panel 11"/>
          <ns0:cNvSpPr/>
          <ns0:nvPr/>
        </ns0:nvSpPr>
        <ns0:spPr>
          <ns0:xfrm xmlns:ns0="http://schemas.openxmlformats.org/drawingml/2006/main">
            <ns0:off x="6199632" y="2075688"/>
            <ns0:ext cx="5422392" cy="3621024"/>
          </ns0:xfrm>
          <ns0:prstGeom xmlns:ns0="http://schemas.openxmlformats.org/drawingml/2006/main" prst="roundRect">
            <ns0:avLst>
              <ns0:gd name="adj" fmla="val 3500"/>
            </ns0:avLst>
          </ns0:prstGeom>
          <ns0:solidFill xmlns:ns0="http://schemas.openxmlformats.org/drawingml/2006/main">
            <ns0:srgbClr val="F5F5F5"/>
          </ns0:solidFill>
          <ns0:ln xmlns:ns0="http://schemas.openxmlformats.org/drawingml/2006/main" w="7620">
            <ns0:noFill/>
          </ns0:ln>
          <ns0:effectLst xmlns:ns0="http://schemas.openxmlformats.org/drawingml/2006/main"/>
        </ns0:spPr>
      </ns0:sp>
      <ns0:sp>
        <ns0:nvSpPr>
          <ns0:cNvPr id="12" name="Text 12"/>
          <ns0:cNvSpPr/>
          <ns0:nvPr/>
        </ns0:nvSpPr>
        <ns0:spPr>
          <ns0:xfrm xmlns:ns0="http://schemas.openxmlformats.org/drawingml/2006/main">
            <ns0:off x="777240" y="2304288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01  Flux splitting and interface flux</ns0:t>
            </ns0:r>
            <ns0:endParaRPr lang="en-US" sz="2000"/>
          </ns0:p>
        </ns0:txBody>
      </ns0:sp>
      <ns0:pic>
        <ns0:nvPicPr>
          <ns0:cNvPr id="13" name="Equation: F^{\pm}(U)=\tfrac{1}{2}\left[F(U)\pm aU\right] 13" descr="Equation: F^{\pm}(U)=\tfrac{1}{2}\left[F(U)\pm aU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2="http://schemas.openxmlformats.org/officeDocument/2006/relationships" ns2:embed="rId22">
            <ns0:extLst>
              <ns0:ext uri="{96DAC541-7B7A-43D3-8B79-37D633B846F1}">
                <ns0:svgBlip xmlns:ns0="http://schemas.microsoft.com/office/drawing/2016/SVG/main" ns2:embed="rId2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2894394"/>
            <ns0:ext cx="3158112" cy="383413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4" name="Text 14"/>
          <ns0:cNvSpPr/>
          <ns0:nvPr/>
        </ns0:nvSpPr>
        <ns0:spPr>
          <ns0:xfrm xmlns:ns0="http://schemas.openxmlformats.org/drawingml/2006/main">
            <ns0:off x="777240" y="3547872"/>
            <ns0:ext cx="494690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WENO / TENO or NN reconstructs each split flux.</ns0:t>
            </ns0:r>
            <ns0:endParaRPr lang="en-US" sz="1500"/>
          </ns0:p>
        </ns0:txBody>
      </ns0:sp>
      <ns0:pic>
        <ns0:nvPicPr>
          <ns0:cNvPr id="15" name="Equation: \hat F_{i+1/2}=\hat F^{+}_{i+1/2}+\hat F^{-}_{i+1/2} 15" descr="Equation: \hat F_{i+1/2}=\hat F^{+}_{i+1/2}+\hat F^{-}_{i+1/2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3="http://schemas.openxmlformats.org/officeDocument/2006/relationships" ns3:embed="rId24">
            <ns0:extLst>
              <ns0:ext uri="{96DAC541-7B7A-43D3-8B79-37D633B846F1}">
                <ns0:svgBlip xmlns:ns0="http://schemas.microsoft.com/office/drawing/2016/SVG/main" ns3:embed="rId25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4133660"/>
            <ns0:ext cx="3050913" cy="437769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16" name="Equation: L_i(U)=-\frac{\hat F_{i+1/2}-\hat F_{i-1/2}}{\Delta x} 16" descr="Equation: L_i(U)=-\frac{\hat F_{i+1/2}-\hat F_{i-1/2}}{\Delta x}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4="http://schemas.openxmlformats.org/officeDocument/2006/relationships" ns4:embed="rId26">
            <ns0:extLst>
              <ns0:ext uri="{96DAC541-7B7A-43D3-8B79-37D633B846F1}">
                <ns0:svgBlip xmlns:ns0="http://schemas.microsoft.com/office/drawing/2016/SVG/main" ns4:embed="rId27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777240" y="4882896"/>
            <ns0:ext cx="2806012" cy="603504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17" name="Text 17"/>
          <ns0:cNvSpPr/>
          <ns0:nvPr/>
        </ns0:nvSpPr>
        <ns0:spPr>
          <ns0:xfrm xmlns:ns0="http://schemas.openxmlformats.org/drawingml/2006/main">
            <ns0:off x="5980176" y="3822192"/>
            <ns0:ext cx="210312" cy="3474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ctr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3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→</ns0:t>
            </ns0:r>
            <ns0:endParaRPr lang="en-US" sz="2300"/>
          </ns0:p>
        </ns0:txBody>
      </ns0:sp>
      <ns0:sp>
        <ns0:nvSpPr>
          <ns0:cNvPr id="18" name="Text 18"/>
          <ns0:cNvSpPr/>
          <ns0:nvPr/>
        </ns0:nvSpPr>
        <ns0:spPr>
          <ns0:xfrm xmlns:ns0="http://schemas.openxmlformats.org/drawingml/2006/main">
            <ns0:off x="6428232" y="2304288"/>
            <ns0:ext cx="4983480" cy="33832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20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02  SSPRK3 · three stages</ns0:t>
            </ns0:r>
            <ns0:endParaRPr lang="en-US" sz="2000"/>
          </ns0:p>
        </ns0:txBody>
      </ns0:sp>
      <ns0:pic>
        <ns0:nvPicPr>
          <ns0:cNvPr id="19" name="Equation: U^{(1)}=U^n+\Delta t\,L(U^n) 19" descr="Equation: U^{(1)}=U^n+\Delta t\,L(U^n)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5="http://schemas.openxmlformats.org/officeDocument/2006/relationships" ns5:embed="rId28">
            <ns0:extLst>
              <ns0:ext uri="{96DAC541-7B7A-43D3-8B79-37D633B846F1}">
                <ns0:svgBlip xmlns:ns0="http://schemas.microsoft.com/office/drawing/2016/SVG/main" ns5:embed="rId29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28232" y="2893314"/>
            <ns0:ext cx="2925612" cy="385572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0" name="Text 20"/>
          <ns0:cNvSpPr/>
          <ns0:nvPr/>
        </ns0:nvSpPr>
        <ns0:spPr>
          <ns0:xfrm xmlns:ns0="http://schemas.openxmlformats.org/drawingml/2006/main">
            <ns0:off x="6428232" y="3547872"/>
            <ns0:ext cx="4946904" cy="3291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50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Recompute reconstruction and fluxes at each stage.</ns0:t>
            </ns0:r>
            <ns0:endParaRPr lang="en-US" sz="1500"/>
          </ns0:p>
        </ns0:txBody>
      </ns0:sp>
      <ns0:pic>
        <ns0:nvPicPr>
          <ns0:cNvPr id="21" name="Equation: U^{(2)}=\tfrac{3}{4}U^n+\tfrac{1}{4}\left[U^{(1)}+\Delta t L(U^{(1)})\right] 21" descr="Equation: U^{(2)}=\tfrac{3}{4}U^n+\tfrac{1}{4}\left[U^{(1)}+\Delta t L(U^{(1)})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6="http://schemas.openxmlformats.org/officeDocument/2006/relationships" ns6:embed="rId30">
            <ns0:extLst>
              <ns0:ext uri="{96DAC541-7B7A-43D3-8B79-37D633B846F1}">
                <ns0:svgBlip xmlns:ns0="http://schemas.microsoft.com/office/drawing/2016/SVG/main" ns6:embed="rId31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28232" y="4149357"/>
            <ns0:ext cx="3962146" cy="406374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pic>
        <ns0:nvPicPr>
          <ns0:cNvPr id="22" name="Equation: U^{n+1}=\tfrac{1}{3}U^n+\tfrac{2}{3}\left[U^{(2)}+\Delta t L(U^{(2)})\right] 22" descr="Equation: U^{n+1}=\tfrac{1}{3}U^n+\tfrac{2}{3}\left[U^{(2)}+\Delta t L(U^{(2)})\right]"/>
          <ns0:cNvPicPr>
            <ns0:picLocks xmlns:ns0="http://schemas.openxmlformats.org/drawingml/2006/main" noChangeAspect="1"/>
          </ns0:cNvPicPr>
          <ns0:nvPr/>
        </ns0:nvPicPr>
        <ns0:blipFill>
          <ns0:blip xmlns:ns0="http://schemas.openxmlformats.org/drawingml/2006/main" xmlns:ns7="http://schemas.openxmlformats.org/officeDocument/2006/relationships" ns7:embed="rId32">
            <ns0:extLst>
              <ns0:ext uri="{96DAC541-7B7A-43D3-8B79-37D633B846F1}">
                <ns0:svgBlip xmlns:ns0="http://schemas.microsoft.com/office/drawing/2016/SVG/main" ns7:embed="rId33"/>
              </ns0:ext>
            </ns0:extLst>
          </ns0:blip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6428232" y="4981583"/>
            <ns0:ext cx="4078224" cy="406130"/>
          </ns0:xfrm>
          <ns0:prstGeom xmlns:ns0="http://schemas.openxmlformats.org/drawingml/2006/main" prst="rect">
            <ns0:avLst/>
          </ns0:prstGeom>
          <ns0:effectLst xmlns:ns0="http://schemas.openxmlformats.org/drawingml/2006/main"/>
        </ns0:spPr>
      </ns0:pic>
      <ns0:sp>
        <ns0:nvSpPr>
          <ns0:cNvPr id="23" name="Text 23"/>
          <ns0:cNvSpPr/>
          <ns0:nvPr/>
        </ns0:nvSpPr>
        <ns0:spPr>
          <ns0:xfrm xmlns:ns0="http://schemas.openxmlformats.org/drawingml/2006/main">
            <ns0:off x="667512" y="5852160"/>
            <ns0:ext cx="10872216" cy="26517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250" b="0" dirty="0">
                <ns0:solidFill>
                  <ns0:srgbClr val="595959"/>
                </ns0:solidFill>
                <ns0:latin typeface="Arial"/>
                <ns0:ea typeface="Arial"/>
                <ns0:cs typeface="Arial"/>
              </ns0:rPr>
              <ns0:t>L(U): spatial flux balance. a: wave-speed bound. Each RK stage recomputes reconstruction and fluxes.</ns0:t>
            </ns0:r>
            <ns0:endParaRPr lang="en-US" sz="1250"/>
          </ns0:p>
        </ns0:txBody>
      </ns0:sp>
      <ns0:sp>
        <ns0:nvSpPr>
          <ns0:cNvPr id="24" name="Text 24"/>
          <ns0:cNvSpPr/>
          <ns0:nvPr/>
        </ns0:nvSpPr>
        <ns0:spPr>
          <ns0:xfrm xmlns:ns0="http://schemas.openxmlformats.org/drawingml/2006/main">
            <ns0:off x="667512" y="6199632"/>
            <ns0:ext cx="10872216" cy="21031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7620">
            <ns0:noFill/>
          </ns0:ln>
          <ns0:effectLst xmlns:ns0="http://schemas.openxmlformats.org/drawingml/2006/main"/>
        </ns0:spPr>
        <ns0:txBody>
          <ns0:bodyPr xmlns:ns0="http://schemas.openxmlformats.org/drawingml/2006/main" wrap="square" anchor="t" lIns="0" rIns="0" tIns="0" bIns="0">
            <ns0:noAutofit/>
          </ns0:bodyPr>
          <ns0:lstStyle xmlns:ns0="http://schemas.openxmlformats.org/drawingml/2006/main"/>
          <ns0:p xmlns:ns0="http://schemas.openxmlformats.org/drawingml/2006/main">
            <ns0:pPr algn="l" marL="0" marR="0" indent="0">
              <ns0:lnSpc>
                <ns0:spcPct val="108000"/>
              </ns0:lnSpc>
              <ns0:spcBef>
                <ns0:spcPts val="0"/>
              </ns0:spcBef>
              <ns0:spcAft>
                <ns0:spcPts val="0"/>
              </ns0:spcAft>
              <ns0:buNone/>
            </ns0:pPr>
            <ns0:r>
              <ns0:rPr lang="en-US" sz="1300" b="1" dirty="0">
                <ns0:solidFill>
                  <ns0:srgbClr val="242424"/>
                </ns0:solidFill>
                <ns0:latin typeface="Arial"/>
                <ns0:ea typeface="Arial"/>
                <ns0:cs typeface="Arial"/>
              </ns0:rPr>
              <ns0:t>03  K-step rollout: repeat the complete SSPRK3 update K times.</ns0:t>
            </ns0:r>
            <ns0:endParaRPr lang="en-US" sz="1300"/>
          </ns0:p>
        </ns0:txBody>
      </ns0:sp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42424"/>
      </a:accent1>
      <a:accent2>
        <a:srgbClr val="242424"/>
      </a:accent2>
      <a:accent3>
        <a:srgbClr val="242424"/>
      </a:accent3>
      <a:accent4>
        <a:srgbClr val="242424"/>
      </a:accent4>
      <a:accent5>
        <a:srgbClr val="242424"/>
      </a:accent5>
      <a:accent6>
        <a:srgbClr val="242424"/>
      </a:accent6>
      <a:hlink>
        <a:srgbClr val="595959"/>
      </a:hlink>
      <a:folHlink>
        <a:srgbClr val="595959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Shock-Capturing Numerical Schemes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